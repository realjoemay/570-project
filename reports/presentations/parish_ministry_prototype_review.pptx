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B6AF37-343C-4C4D-9B25-4D1AE08EB5CD}" type="datetimeFigureOut">
              <a:rPr lang="en-US" smtClean="0"/>
              <a:t>10/26/2026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41B6E6-BE1F-4926-B8F6-4578A8CF73EC}" type="slidenum">
              <a:rPr lang="en-US" smtClean="0"/>
              <a:t>‹#›</a:t>
            </a:fld>
            <a:endParaRPr lang="en-US"/>
          </a:p>
        </p:txBody>
      </p:sp>
    </p:spTree>
    <p:extLst>
      <p:ext uri="{BB962C8B-B14F-4D97-AF65-F5344CB8AC3E}">
        <p14:creationId xmlns:p14="http://schemas.microsoft.com/office/powerpoint/2010/main" val="2385728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Purpose: review how the prototype works, examine three real reports, and discuss priorities for the final version. The deck describes saved project artifacts from October 21, 2026. Proposed changes are discussion items, not implemented features.</a:t>
            </a:r>
          </a:p>
          <a:p>
            <a:endParaRPr lang="en-US"/>
          </a:p>
          <a:p>
            <a:r>
              <a:rPr lang="en-US"/>
              <a:t>Project sources: AGENTS.md; notebooks 01-06; reports/parish_comparisons/index.md</a:t>
            </a:r>
          </a:p>
        </p:txBody>
      </p:sp>
      <p:sp>
        <p:nvSpPr>
          <p:cNvPr id="4" name="Slide Number Placeholder 3"/>
          <p:cNvSpPr>
            <a:spLocks noGrp="1"/>
          </p:cNvSpPr>
          <p:nvPr>
            <p:ph type="sldNum" sz="quarter" idx="5"/>
          </p:nvPr>
        </p:nvSpPr>
        <p:spPr/>
        <p:txBody>
          <a:bodyPr/>
          <a:lstStyle/>
          <a:p>
            <a:fld id="{9F41B6E6-BE1F-4926-B8F6-4578A8CF73EC}" type="slidenum">
              <a:rPr lang="en-US" smtClean="0"/>
              <a:t>1</a:t>
            </a:fld>
            <a:endParaRPr lang="en-US"/>
          </a:p>
        </p:txBody>
      </p:sp>
    </p:spTree>
    <p:extLst>
      <p:ext uri="{BB962C8B-B14F-4D97-AF65-F5344CB8AC3E}">
        <p14:creationId xmlns:p14="http://schemas.microsoft.com/office/powerpoint/2010/main" val="32825187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first two notebooks collect directory records and discover same-site pages through sitemaps and homepage links. Step 03 uses page rules and AI to extract labels/categories with source URLs. Step 04 derives county context, social links, and predicted school affiliation. Step 05 clusters and ranks peers. Step 06 creates Markdown reports from existing artifacts without new scraping or AI calls.</a:t>
            </a:r>
          </a:p>
          <a:p>
            <a:endParaRPr lang="en-US"/>
          </a:p>
          <a:p>
            <a:r>
              <a:rPr lang="en-US"/>
              <a:t>Project sources: 01_build_site_list.ipynb through 06_generate_reports.ipynb</a:t>
            </a:r>
          </a:p>
        </p:txBody>
      </p:sp>
      <p:sp>
        <p:nvSpPr>
          <p:cNvPr id="4" name="Slide Number Placeholder 3"/>
          <p:cNvSpPr>
            <a:spLocks noGrp="1"/>
          </p:cNvSpPr>
          <p:nvPr>
            <p:ph type="sldNum" sz="quarter" idx="5"/>
          </p:nvPr>
        </p:nvSpPr>
        <p:spPr/>
        <p:txBody>
          <a:bodyPr/>
          <a:lstStyle/>
          <a:p>
            <a:fld id="{9F41B6E6-BE1F-4926-B8F6-4578A8CF73EC}" type="slidenum">
              <a:rPr lang="en-US" smtClean="0"/>
              <a:t>2</a:t>
            </a:fld>
            <a:endParaRPr lang="en-US"/>
          </a:p>
        </p:txBody>
      </p:sp>
    </p:spTree>
    <p:extLst>
      <p:ext uri="{BB962C8B-B14F-4D97-AF65-F5344CB8AC3E}">
        <p14:creationId xmlns:p14="http://schemas.microsoft.com/office/powerpoint/2010/main" val="23921143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Four features define similarity: county population, county median age, homepage social-link count, and AI-predicted attached school. Population and social-link count use log1p. Continuous variables are standardized. The saved run selected five clusters. Reference peers have complete features and belong to the assigned cluster. Missing target values use training medians/mode and receive provisional flags. Similarity does not measure attendance or ministry quality. Neighbors across a cluster boundary are excluded.</a:t>
            </a:r>
          </a:p>
          <a:p>
            <a:endParaRPr lang="en-US"/>
          </a:p>
          <a:p>
            <a:r>
              <a:rPr lang="en-US"/>
              <a:t>Project sources: utils/clustering.py; data/05_cluster_parishes/6_run_metadata.json; 05_cluster_parishes.ipynb</a:t>
            </a:r>
          </a:p>
        </p:txBody>
      </p:sp>
      <p:sp>
        <p:nvSpPr>
          <p:cNvPr id="4" name="Slide Number Placeholder 3"/>
          <p:cNvSpPr>
            <a:spLocks noGrp="1"/>
          </p:cNvSpPr>
          <p:nvPr>
            <p:ph type="sldNum" sz="quarter" idx="5"/>
          </p:nvPr>
        </p:nvSpPr>
        <p:spPr/>
        <p:txBody>
          <a:bodyPr/>
          <a:lstStyle/>
          <a:p>
            <a:fld id="{9F41B6E6-BE1F-4926-B8F6-4578A8CF73EC}" type="slidenum">
              <a:rPr lang="en-US" smtClean="0"/>
              <a:t>3</a:t>
            </a:fld>
            <a:endParaRPr lang="en-US"/>
          </a:p>
        </p:txBody>
      </p:sp>
    </p:spTree>
    <p:extLst>
      <p:ext uri="{BB962C8B-B14F-4D97-AF65-F5344CB8AC3E}">
        <p14:creationId xmlns:p14="http://schemas.microsoft.com/office/powerpoint/2010/main" val="25694173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Saved report artifacts dated October 21, 2026. Counts: 80 reports, 800 neighbor matches, 21 target parishes without recorded ministry labels, and 13 provisional target comparisons. The last two groups may overlap and must not be added together. These are output and coverage counts, not extraction accuracy measurements.</a:t>
            </a:r>
          </a:p>
          <a:p>
            <a:endParaRPr lang="en-US"/>
          </a:p>
          <a:p>
            <a:r>
              <a:rPr lang="en-US"/>
              <a:t>Project sources: data/06_generate_reports/4_run_metadata.json; data/06_generate_reports/4_report_manifest.csv</a:t>
            </a:r>
          </a:p>
        </p:txBody>
      </p:sp>
      <p:sp>
        <p:nvSpPr>
          <p:cNvPr id="4" name="Slide Number Placeholder 3"/>
          <p:cNvSpPr>
            <a:spLocks noGrp="1"/>
          </p:cNvSpPr>
          <p:nvPr>
            <p:ph type="sldNum" sz="quarter" idx="5"/>
          </p:nvPr>
        </p:nvSpPr>
        <p:spPr/>
        <p:txBody>
          <a:bodyPr/>
          <a:lstStyle/>
          <a:p>
            <a:fld id="{9F41B6E6-BE1F-4926-B8F6-4578A8CF73EC}" type="slidenum">
              <a:rPr lang="en-US" smtClean="0"/>
              <a:t>4</a:t>
            </a:fld>
            <a:endParaRPr lang="en-US"/>
          </a:p>
        </p:txBody>
      </p:sp>
    </p:spTree>
    <p:extLst>
      <p:ext uri="{BB962C8B-B14F-4D97-AF65-F5344CB8AC3E}">
        <p14:creationId xmlns:p14="http://schemas.microsoft.com/office/powerpoint/2010/main" val="5521309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Granger, Indiana. The report records 46 distinct ministry labels, 505 listed pages, 505 resolved/rule-decided pages, and zero unresolved listed pages. It includes ten neighbors and 64 additional neighbor labels. Corpus Christi and St. Anthony de Padua both have distance 0.0000 because their four modeled features match the target. Resolution includes rule skips and does not prove complete website discovery or correct extraction. Review the source-linked inventory rather than treating the label count as a parish performance score.</a:t>
            </a:r>
          </a:p>
          <a:p>
            <a:endParaRPr lang="en-US"/>
          </a:p>
          <a:p>
            <a:r>
              <a:rPr lang="en-US"/>
              <a:t>Project sources: reports/parish_comparisons/0854_st-pius-x.md; data/06_generate_reports/4_report_manifest.csv</a:t>
            </a:r>
          </a:p>
        </p:txBody>
      </p:sp>
      <p:sp>
        <p:nvSpPr>
          <p:cNvPr id="4" name="Slide Number Placeholder 3"/>
          <p:cNvSpPr>
            <a:spLocks noGrp="1"/>
          </p:cNvSpPr>
          <p:nvPr>
            <p:ph type="sldNum" sz="quarter" idx="5"/>
          </p:nvPr>
        </p:nvSpPr>
        <p:spPr/>
        <p:txBody>
          <a:bodyPr/>
          <a:lstStyle/>
          <a:p>
            <a:fld id="{9F41B6E6-BE1F-4926-B8F6-4578A8CF73EC}" type="slidenum">
              <a:rPr lang="en-US" smtClean="0"/>
              <a:t>5</a:t>
            </a:fld>
            <a:endParaRPr lang="en-US"/>
          </a:p>
        </p:txBody>
      </p:sp>
    </p:spTree>
    <p:extLst>
      <p:ext uri="{BB962C8B-B14F-4D97-AF65-F5344CB8AC3E}">
        <p14:creationId xmlns:p14="http://schemas.microsoft.com/office/powerpoint/2010/main" val="6469736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Holy Cross in South Bend has 20 recorded labels, 177 listed pages resolved or rule-skipped, ten neighbors, and 45 additional neighbor labels. The current inventory includes St. Vincent de Paul Society, while the additional-label table includes Saint Vincent de Paul Society supported by one neighbor, Our Lady of Good Hope. This is a candidate synonym requiring review, not a verified missing ministry. Youth Ministry appears among four neighbors, but that count alone does not establish local demand or target absence. Current matching normalizes Unicode/case/punctuation/spacing, without synonym inference.</a:t>
            </a:r>
          </a:p>
          <a:p>
            <a:endParaRPr lang="en-US"/>
          </a:p>
          <a:p>
            <a:r>
              <a:rPr lang="en-US"/>
              <a:t>Project sources: reports/parish_comparisons/0788_holy-cross.md; 06_generate_reports.ipynb</a:t>
            </a:r>
          </a:p>
        </p:txBody>
      </p:sp>
      <p:sp>
        <p:nvSpPr>
          <p:cNvPr id="4" name="Slide Number Placeholder 3"/>
          <p:cNvSpPr>
            <a:spLocks noGrp="1"/>
          </p:cNvSpPr>
          <p:nvPr>
            <p:ph type="sldNum" sz="quarter" idx="5"/>
          </p:nvPr>
        </p:nvSpPr>
        <p:spPr/>
        <p:txBody>
          <a:bodyPr/>
          <a:lstStyle/>
          <a:p>
            <a:fld id="{9F41B6E6-BE1F-4926-B8F6-4578A8CF73EC}" type="slidenum">
              <a:rPr lang="en-US" smtClean="0"/>
              <a:t>6</a:t>
            </a:fld>
            <a:endParaRPr lang="en-US"/>
          </a:p>
        </p:txBody>
      </p:sp>
    </p:spTree>
    <p:extLst>
      <p:ext uri="{BB962C8B-B14F-4D97-AF65-F5344CB8AC3E}">
        <p14:creationId xmlns:p14="http://schemas.microsoft.com/office/powerpoint/2010/main" val="29275593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South Bend, Indiana. No discovered pages and no recorded labels. The report lists 56 additional neighbor labels. Both social-link count and school affiliation were imputed, so the peer comparison is provisional. County lookup used approximate city/state matching. The 56 labels are comparison leads, not verified ministry gaps. A zero-distance first peer can result after imputation and does not make this a confirmed comparable parish. Discuss whether a report in this state should first request data review.</a:t>
            </a:r>
          </a:p>
          <a:p>
            <a:endParaRPr lang="en-US"/>
          </a:p>
          <a:p>
            <a:r>
              <a:rPr lang="en-US"/>
              <a:t>Project sources: reports/parish_comparisons/0786_christ-the-king.md; data/06_generate_reports/4_report_manifest.csv</a:t>
            </a:r>
          </a:p>
        </p:txBody>
      </p:sp>
      <p:sp>
        <p:nvSpPr>
          <p:cNvPr id="4" name="Slide Number Placeholder 3"/>
          <p:cNvSpPr>
            <a:spLocks noGrp="1"/>
          </p:cNvSpPr>
          <p:nvPr>
            <p:ph type="sldNum" sz="quarter" idx="5"/>
          </p:nvPr>
        </p:nvSpPr>
        <p:spPr/>
        <p:txBody>
          <a:bodyPr/>
          <a:lstStyle/>
          <a:p>
            <a:fld id="{9F41B6E6-BE1F-4926-B8F6-4578A8CF73EC}" type="slidenum">
              <a:rPr lang="en-US" smtClean="0"/>
              <a:t>7</a:t>
            </a:fld>
            <a:endParaRPr lang="en-US"/>
          </a:p>
        </p:txBody>
      </p:sp>
    </p:spTree>
    <p:extLst>
      <p:ext uri="{BB962C8B-B14F-4D97-AF65-F5344CB8AC3E}">
        <p14:creationId xmlns:p14="http://schemas.microsoft.com/office/powerpoint/2010/main" val="26564338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table synthesizes the report review rather than claiming externally validated results. Complete processing means all listed pages were resolved or skipped by a rule, not that all ministries were found. Ministry labels describe recorded website information. Neighbor counts and label counts do not measure ministry quality or need.</a:t>
            </a:r>
          </a:p>
          <a:p>
            <a:endParaRPr lang="en-US"/>
          </a:p>
          <a:p>
            <a:r>
              <a:rPr lang="en-US"/>
              <a:t>Project sources: Three sample reports above; 06_generate_reports.ipynb</a:t>
            </a:r>
          </a:p>
        </p:txBody>
      </p:sp>
      <p:sp>
        <p:nvSpPr>
          <p:cNvPr id="4" name="Slide Number Placeholder 3"/>
          <p:cNvSpPr>
            <a:spLocks noGrp="1"/>
          </p:cNvSpPr>
          <p:nvPr>
            <p:ph type="sldNum" sz="quarter" idx="5"/>
          </p:nvPr>
        </p:nvSpPr>
        <p:spPr/>
        <p:txBody>
          <a:bodyPr/>
          <a:lstStyle/>
          <a:p>
            <a:fld id="{9F41B6E6-BE1F-4926-B8F6-4578A8CF73EC}" type="slidenum">
              <a:rPr lang="en-US" smtClean="0"/>
              <a:t>8</a:t>
            </a:fld>
            <a:endParaRPr lang="en-US"/>
          </a:p>
        </p:txBody>
      </p:sp>
    </p:spTree>
    <p:extLst>
      <p:ext uri="{BB962C8B-B14F-4D97-AF65-F5344CB8AC3E}">
        <p14:creationId xmlns:p14="http://schemas.microsoft.com/office/powerpoint/2010/main" val="39361402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All items are proposals, not completed work. A reviewed ministry vocabulary could connect synonyms while retaining original labels and source URLs. Coverage checks should distinguish discovery, extraction, rule skips, and reviewed accuracy. Matching could add parish-level attendance/household or language information if consistently available and appropriately sourced. Current county demographics are contextual proxies, and homepage social links may be weak indicators of comparability. Prioritization should depend on available project time and stakeholder feedback.</a:t>
            </a:r>
          </a:p>
          <a:p>
            <a:endParaRPr lang="en-US"/>
          </a:p>
          <a:p>
            <a:r>
              <a:rPr lang="en-US"/>
              <a:t>Project sources: Proposals based on sample report review; utils/clustering.py; 06_generate_reports.ipynb</a:t>
            </a:r>
          </a:p>
        </p:txBody>
      </p:sp>
      <p:sp>
        <p:nvSpPr>
          <p:cNvPr id="4" name="Slide Number Placeholder 3"/>
          <p:cNvSpPr>
            <a:spLocks noGrp="1"/>
          </p:cNvSpPr>
          <p:nvPr>
            <p:ph type="sldNum" sz="quarter" idx="5"/>
          </p:nvPr>
        </p:nvSpPr>
        <p:spPr/>
        <p:txBody>
          <a:bodyPr/>
          <a:lstStyle/>
          <a:p>
            <a:fld id="{9F41B6E6-BE1F-4926-B8F6-4578A8CF73EC}" type="slidenum">
              <a:rPr lang="en-US" smtClean="0"/>
              <a:t>9</a:t>
            </a:fld>
            <a:endParaRPr lang="en-US"/>
          </a:p>
        </p:txBody>
      </p:sp>
    </p:spTree>
    <p:extLst>
      <p:ext uri="{BB962C8B-B14F-4D97-AF65-F5344CB8AC3E}">
        <p14:creationId xmlns:p14="http://schemas.microsoft.com/office/powerpoint/2010/main" val="24064313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 proposed validation plan with no claimed results or fixed acceptance thresholds. Build a manually reviewed sample across rich/poor coverage and varied site structures. Define ministry-level ground truth for reviewed pages and audit discovery separately. Estimate precision and recall after label normalization, with category accuracy and false-gap review. Compare peer relevance with parish stakeholder judgments, inspect zero-distance ties, and test sensitivity to feature choice and imputation. Agree acceptance targets after assessing the baseline.</a:t>
            </a:r>
          </a:p>
          <a:p>
            <a:endParaRPr lang="en-US"/>
          </a:p>
          <a:p>
            <a:r>
              <a:rPr lang="en-US"/>
              <a:t>Project sources: Proposed evaluation plan; 11_validate_ministries.ipynb; saved report and clustering artifacts</a:t>
            </a:r>
          </a:p>
        </p:txBody>
      </p:sp>
      <p:sp>
        <p:nvSpPr>
          <p:cNvPr id="4" name="Slide Number Placeholder 3"/>
          <p:cNvSpPr>
            <a:spLocks noGrp="1"/>
          </p:cNvSpPr>
          <p:nvPr>
            <p:ph type="sldNum" sz="quarter" idx="5"/>
          </p:nvPr>
        </p:nvSpPr>
        <p:spPr/>
        <p:txBody>
          <a:bodyPr/>
          <a:lstStyle/>
          <a:p>
            <a:fld id="{9F41B6E6-BE1F-4926-B8F6-4578A8CF73EC}" type="slidenum">
              <a:rPr lang="en-US" smtClean="0"/>
              <a:t>10</a:t>
            </a:fld>
            <a:endParaRPr lang="en-US"/>
          </a:p>
        </p:txBody>
      </p:sp>
    </p:spTree>
    <p:extLst>
      <p:ext uri="{BB962C8B-B14F-4D97-AF65-F5344CB8AC3E}">
        <p14:creationId xmlns:p14="http://schemas.microsoft.com/office/powerpoint/2010/main" val="4307566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slide to capture stakeholder priorities. Proposed first priority: extraction coverage and label equivalence, because both directly affect apparent gaps. Keep the discussion open on whether additional peer features or a more polished report format should come next. Define the final reviewer, intended use, and acceptable evidence before setting delivery criteria.</a:t>
            </a:r>
          </a:p>
          <a:p>
            <a:endParaRPr lang="en-US"/>
          </a:p>
          <a:p>
            <a:r>
              <a:rPr lang="en-US"/>
              <a:t>Project sources: Discussion prompts based on prototype and sample reports</a:t>
            </a:r>
          </a:p>
        </p:txBody>
      </p:sp>
      <p:sp>
        <p:nvSpPr>
          <p:cNvPr id="4" name="Slide Number Placeholder 3"/>
          <p:cNvSpPr>
            <a:spLocks noGrp="1"/>
          </p:cNvSpPr>
          <p:nvPr>
            <p:ph type="sldNum" sz="quarter" idx="5"/>
          </p:nvPr>
        </p:nvSpPr>
        <p:spPr/>
        <p:txBody>
          <a:bodyPr/>
          <a:lstStyle/>
          <a:p>
            <a:fld id="{9F41B6E6-BE1F-4926-B8F6-4578A8CF73EC}" type="slidenum">
              <a:rPr lang="en-US" smtClean="0"/>
              <a:t>11</a:t>
            </a:fld>
            <a:endParaRPr lang="en-US"/>
          </a:p>
        </p:txBody>
      </p:sp>
    </p:spTree>
    <p:extLst>
      <p:ext uri="{BB962C8B-B14F-4D97-AF65-F5344CB8AC3E}">
        <p14:creationId xmlns:p14="http://schemas.microsoft.com/office/powerpoint/2010/main" val="2986373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DDBD9-B003-CA62-5E36-B5F2F9E20D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569246-89FA-FAC9-1AEE-C43ABF8F3A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ABC6CC2-E2ED-F499-3369-6839610A0FD4}"/>
              </a:ext>
            </a:extLst>
          </p:cNvPr>
          <p:cNvSpPr>
            <a:spLocks noGrp="1"/>
          </p:cNvSpPr>
          <p:nvPr>
            <p:ph type="dt" sz="half" idx="10"/>
          </p:nvPr>
        </p:nvSpPr>
        <p:spPr/>
        <p:txBody>
          <a:bodyPr/>
          <a:lstStyle/>
          <a:p>
            <a:fld id="{77ADA045-5D2E-4D97-97AC-2817F822C0F3}" type="datetimeFigureOut">
              <a:rPr lang="en-US" smtClean="0"/>
              <a:t>10/26/2026</a:t>
            </a:fld>
            <a:endParaRPr lang="en-US"/>
          </a:p>
        </p:txBody>
      </p:sp>
      <p:sp>
        <p:nvSpPr>
          <p:cNvPr id="5" name="Footer Placeholder 4">
            <a:extLst>
              <a:ext uri="{FF2B5EF4-FFF2-40B4-BE49-F238E27FC236}">
                <a16:creationId xmlns:a16="http://schemas.microsoft.com/office/drawing/2014/main" id="{98BFD2A1-1780-9987-F7C5-C07A954FB8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884574-B918-29AB-66BF-29C7EE793A1D}"/>
              </a:ext>
            </a:extLst>
          </p:cNvPr>
          <p:cNvSpPr>
            <a:spLocks noGrp="1"/>
          </p:cNvSpPr>
          <p:nvPr>
            <p:ph type="sldNum" sz="quarter" idx="12"/>
          </p:nvPr>
        </p:nvSpPr>
        <p:spPr/>
        <p:txBody>
          <a:bodyPr/>
          <a:lstStyle/>
          <a:p>
            <a:fld id="{0E315A5D-2CB8-4730-A118-3C2E1B5F4D3F}" type="slidenum">
              <a:rPr lang="en-US" smtClean="0"/>
              <a:t>‹#›</a:t>
            </a:fld>
            <a:endParaRPr lang="en-US"/>
          </a:p>
        </p:txBody>
      </p:sp>
    </p:spTree>
    <p:extLst>
      <p:ext uri="{BB962C8B-B14F-4D97-AF65-F5344CB8AC3E}">
        <p14:creationId xmlns:p14="http://schemas.microsoft.com/office/powerpoint/2010/main" val="227858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495F4-FFCC-E410-841F-7F1DC9393A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1AABF5-7AE9-9E24-88BA-5A84F38BEF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8B360A-DC95-71FE-D046-B9759F146700}"/>
              </a:ext>
            </a:extLst>
          </p:cNvPr>
          <p:cNvSpPr>
            <a:spLocks noGrp="1"/>
          </p:cNvSpPr>
          <p:nvPr>
            <p:ph type="dt" sz="half" idx="10"/>
          </p:nvPr>
        </p:nvSpPr>
        <p:spPr/>
        <p:txBody>
          <a:bodyPr/>
          <a:lstStyle/>
          <a:p>
            <a:fld id="{77ADA045-5D2E-4D97-97AC-2817F822C0F3}" type="datetimeFigureOut">
              <a:rPr lang="en-US" smtClean="0"/>
              <a:t>10/26/2026</a:t>
            </a:fld>
            <a:endParaRPr lang="en-US"/>
          </a:p>
        </p:txBody>
      </p:sp>
      <p:sp>
        <p:nvSpPr>
          <p:cNvPr id="5" name="Footer Placeholder 4">
            <a:extLst>
              <a:ext uri="{FF2B5EF4-FFF2-40B4-BE49-F238E27FC236}">
                <a16:creationId xmlns:a16="http://schemas.microsoft.com/office/drawing/2014/main" id="{9F420624-0CBC-8C85-7DE6-A54E59CE0C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8C91A3-8FE5-6D64-6089-F2896D16B1EB}"/>
              </a:ext>
            </a:extLst>
          </p:cNvPr>
          <p:cNvSpPr>
            <a:spLocks noGrp="1"/>
          </p:cNvSpPr>
          <p:nvPr>
            <p:ph type="sldNum" sz="quarter" idx="12"/>
          </p:nvPr>
        </p:nvSpPr>
        <p:spPr/>
        <p:txBody>
          <a:bodyPr/>
          <a:lstStyle/>
          <a:p>
            <a:fld id="{0E315A5D-2CB8-4730-A118-3C2E1B5F4D3F}" type="slidenum">
              <a:rPr lang="en-US" smtClean="0"/>
              <a:t>‹#›</a:t>
            </a:fld>
            <a:endParaRPr lang="en-US"/>
          </a:p>
        </p:txBody>
      </p:sp>
    </p:spTree>
    <p:extLst>
      <p:ext uri="{BB962C8B-B14F-4D97-AF65-F5344CB8AC3E}">
        <p14:creationId xmlns:p14="http://schemas.microsoft.com/office/powerpoint/2010/main" val="247263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24FC-2B27-085B-D516-DC4C31E16F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4CFFD77-A7E4-9342-51C9-0E680DD613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98E8BC-37F6-E066-C6AF-2F9E74193AC2}"/>
              </a:ext>
            </a:extLst>
          </p:cNvPr>
          <p:cNvSpPr>
            <a:spLocks noGrp="1"/>
          </p:cNvSpPr>
          <p:nvPr>
            <p:ph type="dt" sz="half" idx="10"/>
          </p:nvPr>
        </p:nvSpPr>
        <p:spPr/>
        <p:txBody>
          <a:bodyPr/>
          <a:lstStyle/>
          <a:p>
            <a:fld id="{77ADA045-5D2E-4D97-97AC-2817F822C0F3}" type="datetimeFigureOut">
              <a:rPr lang="en-US" smtClean="0"/>
              <a:t>10/26/2026</a:t>
            </a:fld>
            <a:endParaRPr lang="en-US"/>
          </a:p>
        </p:txBody>
      </p:sp>
      <p:sp>
        <p:nvSpPr>
          <p:cNvPr id="5" name="Footer Placeholder 4">
            <a:extLst>
              <a:ext uri="{FF2B5EF4-FFF2-40B4-BE49-F238E27FC236}">
                <a16:creationId xmlns:a16="http://schemas.microsoft.com/office/drawing/2014/main" id="{31D8BD25-3B70-FF23-2C09-A92F01BEBF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AFDD49-AF1F-E0EC-2DAC-A4549D42A964}"/>
              </a:ext>
            </a:extLst>
          </p:cNvPr>
          <p:cNvSpPr>
            <a:spLocks noGrp="1"/>
          </p:cNvSpPr>
          <p:nvPr>
            <p:ph type="sldNum" sz="quarter" idx="12"/>
          </p:nvPr>
        </p:nvSpPr>
        <p:spPr/>
        <p:txBody>
          <a:bodyPr/>
          <a:lstStyle/>
          <a:p>
            <a:fld id="{0E315A5D-2CB8-4730-A118-3C2E1B5F4D3F}" type="slidenum">
              <a:rPr lang="en-US" smtClean="0"/>
              <a:t>‹#›</a:t>
            </a:fld>
            <a:endParaRPr lang="en-US"/>
          </a:p>
        </p:txBody>
      </p:sp>
    </p:spTree>
    <p:extLst>
      <p:ext uri="{BB962C8B-B14F-4D97-AF65-F5344CB8AC3E}">
        <p14:creationId xmlns:p14="http://schemas.microsoft.com/office/powerpoint/2010/main" val="15109307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30540-C8C3-D1E9-A905-42D06D1609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E5E20C-2506-3986-DB8B-F12C4D74EF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3B7C92A-9955-3B4D-5A5E-689F75871D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30AA896-3790-DE17-214A-B117F1F2582C}"/>
              </a:ext>
            </a:extLst>
          </p:cNvPr>
          <p:cNvSpPr>
            <a:spLocks noGrp="1"/>
          </p:cNvSpPr>
          <p:nvPr>
            <p:ph type="dt" sz="half" idx="10"/>
          </p:nvPr>
        </p:nvSpPr>
        <p:spPr/>
        <p:txBody>
          <a:bodyPr/>
          <a:lstStyle/>
          <a:p>
            <a:fld id="{77ADA045-5D2E-4D97-97AC-2817F822C0F3}" type="datetimeFigureOut">
              <a:rPr lang="en-US" smtClean="0"/>
              <a:t>10/26/2026</a:t>
            </a:fld>
            <a:endParaRPr lang="en-US"/>
          </a:p>
        </p:txBody>
      </p:sp>
      <p:sp>
        <p:nvSpPr>
          <p:cNvPr id="6" name="Footer Placeholder 5">
            <a:extLst>
              <a:ext uri="{FF2B5EF4-FFF2-40B4-BE49-F238E27FC236}">
                <a16:creationId xmlns:a16="http://schemas.microsoft.com/office/drawing/2014/main" id="{D9B62CA1-7679-1355-86EA-9E37EB18C4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8643D9-9384-A97B-90A6-6930854A3734}"/>
              </a:ext>
            </a:extLst>
          </p:cNvPr>
          <p:cNvSpPr>
            <a:spLocks noGrp="1"/>
          </p:cNvSpPr>
          <p:nvPr>
            <p:ph type="sldNum" sz="quarter" idx="12"/>
          </p:nvPr>
        </p:nvSpPr>
        <p:spPr/>
        <p:txBody>
          <a:bodyPr/>
          <a:lstStyle/>
          <a:p>
            <a:fld id="{0E315A5D-2CB8-4730-A118-3C2E1B5F4D3F}" type="slidenum">
              <a:rPr lang="en-US" smtClean="0"/>
              <a:t>‹#›</a:t>
            </a:fld>
            <a:endParaRPr lang="en-US"/>
          </a:p>
        </p:txBody>
      </p:sp>
    </p:spTree>
    <p:extLst>
      <p:ext uri="{BB962C8B-B14F-4D97-AF65-F5344CB8AC3E}">
        <p14:creationId xmlns:p14="http://schemas.microsoft.com/office/powerpoint/2010/main" val="3748940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71464-E37F-B965-1605-63790905917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5DB0EC-4C16-DCD2-95BF-FFE40E08A2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79B08E-0E53-4E51-F068-DEBE171D6FE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6794BEF-9521-E8DD-2C7C-01F76CD81C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42061B-D02D-B9A7-0D0B-22414F0F4A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C3286A-F036-BDF3-9D4F-A144398B74E2}"/>
              </a:ext>
            </a:extLst>
          </p:cNvPr>
          <p:cNvSpPr>
            <a:spLocks noGrp="1"/>
          </p:cNvSpPr>
          <p:nvPr>
            <p:ph type="dt" sz="half" idx="10"/>
          </p:nvPr>
        </p:nvSpPr>
        <p:spPr/>
        <p:txBody>
          <a:bodyPr/>
          <a:lstStyle/>
          <a:p>
            <a:fld id="{77ADA045-5D2E-4D97-97AC-2817F822C0F3}" type="datetimeFigureOut">
              <a:rPr lang="en-US" smtClean="0"/>
              <a:t>10/26/2026</a:t>
            </a:fld>
            <a:endParaRPr lang="en-US"/>
          </a:p>
        </p:txBody>
      </p:sp>
      <p:sp>
        <p:nvSpPr>
          <p:cNvPr id="8" name="Footer Placeholder 7">
            <a:extLst>
              <a:ext uri="{FF2B5EF4-FFF2-40B4-BE49-F238E27FC236}">
                <a16:creationId xmlns:a16="http://schemas.microsoft.com/office/drawing/2014/main" id="{01EA0CD2-424F-C623-261C-093BE4BC76B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DB0DA7-10EA-3B3E-8503-036FB07B0C4A}"/>
              </a:ext>
            </a:extLst>
          </p:cNvPr>
          <p:cNvSpPr>
            <a:spLocks noGrp="1"/>
          </p:cNvSpPr>
          <p:nvPr>
            <p:ph type="sldNum" sz="quarter" idx="12"/>
          </p:nvPr>
        </p:nvSpPr>
        <p:spPr/>
        <p:txBody>
          <a:bodyPr/>
          <a:lstStyle/>
          <a:p>
            <a:fld id="{0E315A5D-2CB8-4730-A118-3C2E1B5F4D3F}" type="slidenum">
              <a:rPr lang="en-US" smtClean="0"/>
              <a:t>‹#›</a:t>
            </a:fld>
            <a:endParaRPr lang="en-US"/>
          </a:p>
        </p:txBody>
      </p:sp>
    </p:spTree>
    <p:extLst>
      <p:ext uri="{BB962C8B-B14F-4D97-AF65-F5344CB8AC3E}">
        <p14:creationId xmlns:p14="http://schemas.microsoft.com/office/powerpoint/2010/main" val="195483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556AE-EDB5-F5A6-5167-15342DE53A2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F0D2A6-BB51-5D06-4C14-E98187EBA110}"/>
              </a:ext>
            </a:extLst>
          </p:cNvPr>
          <p:cNvSpPr>
            <a:spLocks noGrp="1"/>
          </p:cNvSpPr>
          <p:nvPr>
            <p:ph type="dt" sz="half" idx="10"/>
          </p:nvPr>
        </p:nvSpPr>
        <p:spPr/>
        <p:txBody>
          <a:bodyPr/>
          <a:lstStyle/>
          <a:p>
            <a:fld id="{77ADA045-5D2E-4D97-97AC-2817F822C0F3}" type="datetimeFigureOut">
              <a:rPr lang="en-US" smtClean="0"/>
              <a:t>10/26/2026</a:t>
            </a:fld>
            <a:endParaRPr lang="en-US"/>
          </a:p>
        </p:txBody>
      </p:sp>
      <p:sp>
        <p:nvSpPr>
          <p:cNvPr id="4" name="Footer Placeholder 3">
            <a:extLst>
              <a:ext uri="{FF2B5EF4-FFF2-40B4-BE49-F238E27FC236}">
                <a16:creationId xmlns:a16="http://schemas.microsoft.com/office/drawing/2014/main" id="{B74B07BC-928B-E91E-9EBE-BBCE8FDA98D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55D5CAB-5434-A848-9E42-3747977DB706}"/>
              </a:ext>
            </a:extLst>
          </p:cNvPr>
          <p:cNvSpPr>
            <a:spLocks noGrp="1"/>
          </p:cNvSpPr>
          <p:nvPr>
            <p:ph type="sldNum" sz="quarter" idx="12"/>
          </p:nvPr>
        </p:nvSpPr>
        <p:spPr/>
        <p:txBody>
          <a:bodyPr/>
          <a:lstStyle/>
          <a:p>
            <a:fld id="{0E315A5D-2CB8-4730-A118-3C2E1B5F4D3F}" type="slidenum">
              <a:rPr lang="en-US" smtClean="0"/>
              <a:t>‹#›</a:t>
            </a:fld>
            <a:endParaRPr lang="en-US"/>
          </a:p>
        </p:txBody>
      </p:sp>
    </p:spTree>
    <p:extLst>
      <p:ext uri="{BB962C8B-B14F-4D97-AF65-F5344CB8AC3E}">
        <p14:creationId xmlns:p14="http://schemas.microsoft.com/office/powerpoint/2010/main" val="38639333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B618F1-AA21-CAED-FA54-36BAD2370896}"/>
              </a:ext>
            </a:extLst>
          </p:cNvPr>
          <p:cNvSpPr>
            <a:spLocks noGrp="1"/>
          </p:cNvSpPr>
          <p:nvPr>
            <p:ph type="dt" sz="half" idx="10"/>
          </p:nvPr>
        </p:nvSpPr>
        <p:spPr/>
        <p:txBody>
          <a:bodyPr/>
          <a:lstStyle/>
          <a:p>
            <a:fld id="{77ADA045-5D2E-4D97-97AC-2817F822C0F3}" type="datetimeFigureOut">
              <a:rPr lang="en-US" smtClean="0"/>
              <a:t>10/26/2026</a:t>
            </a:fld>
            <a:endParaRPr lang="en-US"/>
          </a:p>
        </p:txBody>
      </p:sp>
      <p:sp>
        <p:nvSpPr>
          <p:cNvPr id="3" name="Footer Placeholder 2">
            <a:extLst>
              <a:ext uri="{FF2B5EF4-FFF2-40B4-BE49-F238E27FC236}">
                <a16:creationId xmlns:a16="http://schemas.microsoft.com/office/drawing/2014/main" id="{F5DE3105-64AA-5AB5-8AA4-C496ACC4187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773A3FB-6080-4E4B-AE62-58BD02F19A88}"/>
              </a:ext>
            </a:extLst>
          </p:cNvPr>
          <p:cNvSpPr>
            <a:spLocks noGrp="1"/>
          </p:cNvSpPr>
          <p:nvPr>
            <p:ph type="sldNum" sz="quarter" idx="12"/>
          </p:nvPr>
        </p:nvSpPr>
        <p:spPr/>
        <p:txBody>
          <a:bodyPr/>
          <a:lstStyle/>
          <a:p>
            <a:fld id="{0E315A5D-2CB8-4730-A118-3C2E1B5F4D3F}" type="slidenum">
              <a:rPr lang="en-US" smtClean="0"/>
              <a:t>‹#›</a:t>
            </a:fld>
            <a:endParaRPr lang="en-US"/>
          </a:p>
        </p:txBody>
      </p:sp>
    </p:spTree>
    <p:extLst>
      <p:ext uri="{BB962C8B-B14F-4D97-AF65-F5344CB8AC3E}">
        <p14:creationId xmlns:p14="http://schemas.microsoft.com/office/powerpoint/2010/main" val="3951346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3E17D-7948-2372-5560-8A4AE43AA8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180FDC9-3088-BA13-A565-6F00E65C38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7353E99-C49D-ACC3-D183-2D710FFC5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648E7D-4EEF-A251-88F1-DA779C8475A6}"/>
              </a:ext>
            </a:extLst>
          </p:cNvPr>
          <p:cNvSpPr>
            <a:spLocks noGrp="1"/>
          </p:cNvSpPr>
          <p:nvPr>
            <p:ph type="dt" sz="half" idx="10"/>
          </p:nvPr>
        </p:nvSpPr>
        <p:spPr/>
        <p:txBody>
          <a:bodyPr/>
          <a:lstStyle/>
          <a:p>
            <a:fld id="{77ADA045-5D2E-4D97-97AC-2817F822C0F3}" type="datetimeFigureOut">
              <a:rPr lang="en-US" smtClean="0"/>
              <a:t>10/26/2026</a:t>
            </a:fld>
            <a:endParaRPr lang="en-US"/>
          </a:p>
        </p:txBody>
      </p:sp>
      <p:sp>
        <p:nvSpPr>
          <p:cNvPr id="6" name="Footer Placeholder 5">
            <a:extLst>
              <a:ext uri="{FF2B5EF4-FFF2-40B4-BE49-F238E27FC236}">
                <a16:creationId xmlns:a16="http://schemas.microsoft.com/office/drawing/2014/main" id="{D8457D1E-4952-3244-ACB5-9AC2A23F7D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36C9BC-7CC0-1912-7865-5B671254DF73}"/>
              </a:ext>
            </a:extLst>
          </p:cNvPr>
          <p:cNvSpPr>
            <a:spLocks noGrp="1"/>
          </p:cNvSpPr>
          <p:nvPr>
            <p:ph type="sldNum" sz="quarter" idx="12"/>
          </p:nvPr>
        </p:nvSpPr>
        <p:spPr/>
        <p:txBody>
          <a:bodyPr/>
          <a:lstStyle/>
          <a:p>
            <a:fld id="{0E315A5D-2CB8-4730-A118-3C2E1B5F4D3F}" type="slidenum">
              <a:rPr lang="en-US" smtClean="0"/>
              <a:t>‹#›</a:t>
            </a:fld>
            <a:endParaRPr lang="en-US"/>
          </a:p>
        </p:txBody>
      </p:sp>
    </p:spTree>
    <p:extLst>
      <p:ext uri="{BB962C8B-B14F-4D97-AF65-F5344CB8AC3E}">
        <p14:creationId xmlns:p14="http://schemas.microsoft.com/office/powerpoint/2010/main" val="1275818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1E438-E9E2-2796-93A5-E58FF772C2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DBEBE95-8165-6326-225D-067F48F3E45D}"/>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56539C3-4C62-102F-2331-F7607BC081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BAC9DB-F923-45C8-B229-5ADBF1F1198A}"/>
              </a:ext>
            </a:extLst>
          </p:cNvPr>
          <p:cNvSpPr>
            <a:spLocks noGrp="1"/>
          </p:cNvSpPr>
          <p:nvPr>
            <p:ph type="dt" sz="half" idx="10"/>
          </p:nvPr>
        </p:nvSpPr>
        <p:spPr/>
        <p:txBody>
          <a:bodyPr/>
          <a:lstStyle/>
          <a:p>
            <a:fld id="{77ADA045-5D2E-4D97-97AC-2817F822C0F3}" type="datetimeFigureOut">
              <a:rPr lang="en-US" smtClean="0"/>
              <a:t>10/26/2026</a:t>
            </a:fld>
            <a:endParaRPr lang="en-US"/>
          </a:p>
        </p:txBody>
      </p:sp>
      <p:sp>
        <p:nvSpPr>
          <p:cNvPr id="6" name="Footer Placeholder 5">
            <a:extLst>
              <a:ext uri="{FF2B5EF4-FFF2-40B4-BE49-F238E27FC236}">
                <a16:creationId xmlns:a16="http://schemas.microsoft.com/office/drawing/2014/main" id="{1A50FAC1-E37A-FAEF-56DD-28D9DF365C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FA119E-D8A8-825C-479A-CCD96EEE79BA}"/>
              </a:ext>
            </a:extLst>
          </p:cNvPr>
          <p:cNvSpPr>
            <a:spLocks noGrp="1"/>
          </p:cNvSpPr>
          <p:nvPr>
            <p:ph type="sldNum" sz="quarter" idx="12"/>
          </p:nvPr>
        </p:nvSpPr>
        <p:spPr/>
        <p:txBody>
          <a:bodyPr/>
          <a:lstStyle/>
          <a:p>
            <a:fld id="{0E315A5D-2CB8-4730-A118-3C2E1B5F4D3F}" type="slidenum">
              <a:rPr lang="en-US" smtClean="0"/>
              <a:t>‹#›</a:t>
            </a:fld>
            <a:endParaRPr lang="en-US"/>
          </a:p>
        </p:txBody>
      </p:sp>
    </p:spTree>
    <p:extLst>
      <p:ext uri="{BB962C8B-B14F-4D97-AF65-F5344CB8AC3E}">
        <p14:creationId xmlns:p14="http://schemas.microsoft.com/office/powerpoint/2010/main" val="40105014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303F7-694B-2F13-8B8E-A1045687415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46979A-ED2C-9471-9678-9428002139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DA0FA1-AC6E-5BFF-DBC5-EDA9213DEC92}"/>
              </a:ext>
            </a:extLst>
          </p:cNvPr>
          <p:cNvSpPr>
            <a:spLocks noGrp="1"/>
          </p:cNvSpPr>
          <p:nvPr>
            <p:ph type="dt" sz="half" idx="10"/>
          </p:nvPr>
        </p:nvSpPr>
        <p:spPr/>
        <p:txBody>
          <a:bodyPr/>
          <a:lstStyle/>
          <a:p>
            <a:fld id="{77ADA045-5D2E-4D97-97AC-2817F822C0F3}" type="datetimeFigureOut">
              <a:rPr lang="en-US" smtClean="0"/>
              <a:t>10/26/2026</a:t>
            </a:fld>
            <a:endParaRPr lang="en-US"/>
          </a:p>
        </p:txBody>
      </p:sp>
      <p:sp>
        <p:nvSpPr>
          <p:cNvPr id="5" name="Footer Placeholder 4">
            <a:extLst>
              <a:ext uri="{FF2B5EF4-FFF2-40B4-BE49-F238E27FC236}">
                <a16:creationId xmlns:a16="http://schemas.microsoft.com/office/drawing/2014/main" id="{3653A76E-C677-16C4-19AA-371D4BF8C8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C8DB88-894A-A7B0-F71E-6C230F712CFA}"/>
              </a:ext>
            </a:extLst>
          </p:cNvPr>
          <p:cNvSpPr>
            <a:spLocks noGrp="1"/>
          </p:cNvSpPr>
          <p:nvPr>
            <p:ph type="sldNum" sz="quarter" idx="12"/>
          </p:nvPr>
        </p:nvSpPr>
        <p:spPr/>
        <p:txBody>
          <a:bodyPr/>
          <a:lstStyle/>
          <a:p>
            <a:fld id="{0E315A5D-2CB8-4730-A118-3C2E1B5F4D3F}" type="slidenum">
              <a:rPr lang="en-US" smtClean="0"/>
              <a:t>‹#›</a:t>
            </a:fld>
            <a:endParaRPr lang="en-US"/>
          </a:p>
        </p:txBody>
      </p:sp>
    </p:spTree>
    <p:extLst>
      <p:ext uri="{BB962C8B-B14F-4D97-AF65-F5344CB8AC3E}">
        <p14:creationId xmlns:p14="http://schemas.microsoft.com/office/powerpoint/2010/main" val="1824219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49546F-E282-0226-5C81-1CB033A117F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893B360-E5E1-08BE-C75A-A490672FB2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AD724D-251E-78CD-536E-D80BC525D084}"/>
              </a:ext>
            </a:extLst>
          </p:cNvPr>
          <p:cNvSpPr>
            <a:spLocks noGrp="1"/>
          </p:cNvSpPr>
          <p:nvPr>
            <p:ph type="dt" sz="half" idx="10"/>
          </p:nvPr>
        </p:nvSpPr>
        <p:spPr/>
        <p:txBody>
          <a:bodyPr/>
          <a:lstStyle/>
          <a:p>
            <a:fld id="{77ADA045-5D2E-4D97-97AC-2817F822C0F3}" type="datetimeFigureOut">
              <a:rPr lang="en-US" smtClean="0"/>
              <a:t>10/26/2026</a:t>
            </a:fld>
            <a:endParaRPr lang="en-US"/>
          </a:p>
        </p:txBody>
      </p:sp>
      <p:sp>
        <p:nvSpPr>
          <p:cNvPr id="5" name="Footer Placeholder 4">
            <a:extLst>
              <a:ext uri="{FF2B5EF4-FFF2-40B4-BE49-F238E27FC236}">
                <a16:creationId xmlns:a16="http://schemas.microsoft.com/office/drawing/2014/main" id="{D29D671F-173E-AADD-EE95-5854B1C22A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DDDC68-F6F3-34EB-A540-D3FE7C32A958}"/>
              </a:ext>
            </a:extLst>
          </p:cNvPr>
          <p:cNvSpPr>
            <a:spLocks noGrp="1"/>
          </p:cNvSpPr>
          <p:nvPr>
            <p:ph type="sldNum" sz="quarter" idx="12"/>
          </p:nvPr>
        </p:nvSpPr>
        <p:spPr/>
        <p:txBody>
          <a:bodyPr/>
          <a:lstStyle/>
          <a:p>
            <a:fld id="{0E315A5D-2CB8-4730-A118-3C2E1B5F4D3F}" type="slidenum">
              <a:rPr lang="en-US" smtClean="0"/>
              <a:t>‹#›</a:t>
            </a:fld>
            <a:endParaRPr lang="en-US"/>
          </a:p>
        </p:txBody>
      </p:sp>
    </p:spTree>
    <p:extLst>
      <p:ext uri="{BB962C8B-B14F-4D97-AF65-F5344CB8AC3E}">
        <p14:creationId xmlns:p14="http://schemas.microsoft.com/office/powerpoint/2010/main" val="2817991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D497BE-9840-5936-AF49-14E6BFAFD9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43AD07-0464-10C7-C68D-AF6BBE3FBD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D97994-2B7C-9EBD-F4CB-91C37F2326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7ADA045-5D2E-4D97-97AC-2817F822C0F3}" type="datetimeFigureOut">
              <a:rPr lang="en-US" smtClean="0"/>
              <a:t>10/26/2026</a:t>
            </a:fld>
            <a:endParaRPr lang="en-US"/>
          </a:p>
        </p:txBody>
      </p:sp>
      <p:sp>
        <p:nvSpPr>
          <p:cNvPr id="5" name="Footer Placeholder 4">
            <a:extLst>
              <a:ext uri="{FF2B5EF4-FFF2-40B4-BE49-F238E27FC236}">
                <a16:creationId xmlns:a16="http://schemas.microsoft.com/office/drawing/2014/main" id="{E062B654-29A2-5D52-D8C8-D906A50256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A113236-67DE-463B-8AEC-10A024DB53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E315A5D-2CB8-4730-A118-3C2E1B5F4D3F}" type="slidenum">
              <a:rPr lang="en-US" smtClean="0"/>
              <a:t>‹#›</a:t>
            </a:fld>
            <a:endParaRPr lang="en-US"/>
          </a:p>
        </p:txBody>
      </p:sp>
    </p:spTree>
    <p:extLst>
      <p:ext uri="{BB962C8B-B14F-4D97-AF65-F5344CB8AC3E}">
        <p14:creationId xmlns:p14="http://schemas.microsoft.com/office/powerpoint/2010/main" val="7382272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file:///C:\Users\joema\projects\570-project\reports\parish_comparisons\0854_st-pius-x.md"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file:///C:\Users\joema\projects\570-project\reports\parish_comparisons\0788_holy-cross.md"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file:///C:\Users\joema\projects\570-project\reports\parish_comparisons\0786_christ-the-king.md"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749ED9-E8F6-C765-7116-9727DE5F962D}"/>
              </a:ext>
            </a:extLst>
          </p:cNvPr>
          <p:cNvSpPr txBox="1"/>
          <p:nvPr/>
        </p:nvSpPr>
        <p:spPr>
          <a:xfrm>
            <a:off x="609600" y="355600"/>
            <a:ext cx="10668000" cy="200055"/>
          </a:xfrm>
          <a:prstGeom prst="rect">
            <a:avLst/>
          </a:prstGeom>
          <a:noFill/>
        </p:spPr>
        <p:txBody>
          <a:bodyPr vert="horz" wrap="square" lIns="0" tIns="0" rIns="0" bIns="0" rtlCol="0">
            <a:spAutoFit/>
          </a:bodyPr>
          <a:lstStyle/>
          <a:p>
            <a:r>
              <a:rPr lang="en-US" sz="1300" b="1">
                <a:solidFill>
                  <a:srgbClr val="16776C"/>
                </a:solidFill>
                <a:latin typeface="Aptos" panose="020B0004020202020204" pitchFamily="34" charset="0"/>
              </a:rPr>
              <a:t>PROTOTYPE REVIEW</a:t>
            </a:r>
          </a:p>
        </p:txBody>
      </p:sp>
      <p:sp>
        <p:nvSpPr>
          <p:cNvPr id="3" name="TextBox 2">
            <a:extLst>
              <a:ext uri="{FF2B5EF4-FFF2-40B4-BE49-F238E27FC236}">
                <a16:creationId xmlns:a16="http://schemas.microsoft.com/office/drawing/2014/main" id="{0212071F-F2F9-DCF5-1A55-8B7424BD846E}"/>
              </a:ext>
            </a:extLst>
          </p:cNvPr>
          <p:cNvSpPr txBox="1"/>
          <p:nvPr/>
        </p:nvSpPr>
        <p:spPr>
          <a:xfrm>
            <a:off x="609600" y="838200"/>
            <a:ext cx="10972800" cy="492443"/>
          </a:xfrm>
          <a:prstGeom prst="rect">
            <a:avLst/>
          </a:prstGeom>
          <a:noFill/>
        </p:spPr>
        <p:txBody>
          <a:bodyPr vert="horz" wrap="square" lIns="0" tIns="0" rIns="0" bIns="0" rtlCol="0">
            <a:spAutoFit/>
          </a:bodyPr>
          <a:lstStyle/>
          <a:p>
            <a:r>
              <a:rPr lang="en-US" sz="3200" b="1">
                <a:solidFill>
                  <a:srgbClr val="173C43"/>
                </a:solidFill>
                <a:latin typeface="Aptos" panose="020B0004020202020204" pitchFamily="34" charset="0"/>
              </a:rPr>
              <a:t>Parish Ministry Benchmark</a:t>
            </a:r>
          </a:p>
        </p:txBody>
      </p:sp>
      <p:sp>
        <p:nvSpPr>
          <p:cNvPr id="4" name="TextBox 3">
            <a:extLst>
              <a:ext uri="{FF2B5EF4-FFF2-40B4-BE49-F238E27FC236}">
                <a16:creationId xmlns:a16="http://schemas.microsoft.com/office/drawing/2014/main" id="{FE5E2116-CEDA-FF76-0A92-5AEB8AE1A76C}"/>
              </a:ext>
            </a:extLst>
          </p:cNvPr>
          <p:cNvSpPr txBox="1"/>
          <p:nvPr/>
        </p:nvSpPr>
        <p:spPr>
          <a:xfrm>
            <a:off x="11049000" y="6350000"/>
            <a:ext cx="533400" cy="184666"/>
          </a:xfrm>
          <a:prstGeom prst="rect">
            <a:avLst/>
          </a:prstGeom>
          <a:noFill/>
        </p:spPr>
        <p:txBody>
          <a:bodyPr vert="horz" wrap="square" lIns="0" tIns="0" rIns="0" bIns="0" rtlCol="0">
            <a:spAutoFit/>
          </a:bodyPr>
          <a:lstStyle/>
          <a:p>
            <a:r>
              <a:rPr lang="en-US" sz="1200">
                <a:solidFill>
                  <a:srgbClr val="536367"/>
                </a:solidFill>
                <a:latin typeface="Aptos" panose="020B0004020202020204" pitchFamily="34" charset="0"/>
              </a:rPr>
              <a:t>01</a:t>
            </a:r>
          </a:p>
        </p:txBody>
      </p:sp>
      <p:sp>
        <p:nvSpPr>
          <p:cNvPr id="5" name="TextBox 4">
            <a:extLst>
              <a:ext uri="{FF2B5EF4-FFF2-40B4-BE49-F238E27FC236}">
                <a16:creationId xmlns:a16="http://schemas.microsoft.com/office/drawing/2014/main" id="{1FB97E66-870C-3038-7F95-8E89D4475EBD}"/>
              </a:ext>
            </a:extLst>
          </p:cNvPr>
          <p:cNvSpPr txBox="1"/>
          <p:nvPr/>
        </p:nvSpPr>
        <p:spPr>
          <a:xfrm>
            <a:off x="609600" y="2209800"/>
            <a:ext cx="10033000" cy="1107996"/>
          </a:xfrm>
          <a:prstGeom prst="rect">
            <a:avLst/>
          </a:prstGeom>
          <a:noFill/>
        </p:spPr>
        <p:txBody>
          <a:bodyPr vert="horz" wrap="square" lIns="0" tIns="0" rIns="0" bIns="0" rtlCol="0">
            <a:spAutoFit/>
          </a:bodyPr>
          <a:lstStyle/>
          <a:p>
            <a:r>
              <a:rPr lang="en-US" sz="3600">
                <a:solidFill>
                  <a:srgbClr val="173C43"/>
                </a:solidFill>
                <a:latin typeface="Aptos" panose="020B0004020202020204" pitchFamily="34" charset="0"/>
              </a:rPr>
              <a:t>Prototype results and</a:t>
            </a:r>
          </a:p>
          <a:p>
            <a:r>
              <a:rPr lang="en-US" sz="3600">
                <a:solidFill>
                  <a:srgbClr val="173C43"/>
                </a:solidFill>
                <a:latin typeface="Aptos" panose="020B0004020202020204" pitchFamily="34" charset="0"/>
              </a:rPr>
              <a:t>priorities for the final version</a:t>
            </a:r>
          </a:p>
        </p:txBody>
      </p:sp>
      <p:sp>
        <p:nvSpPr>
          <p:cNvPr id="6" name="TextBox 5">
            <a:extLst>
              <a:ext uri="{FF2B5EF4-FFF2-40B4-BE49-F238E27FC236}">
                <a16:creationId xmlns:a16="http://schemas.microsoft.com/office/drawing/2014/main" id="{AA52B01B-8B4D-DDBA-B59B-79261CC940A5}"/>
              </a:ext>
            </a:extLst>
          </p:cNvPr>
          <p:cNvSpPr txBox="1"/>
          <p:nvPr/>
        </p:nvSpPr>
        <p:spPr>
          <a:xfrm>
            <a:off x="609600" y="4254500"/>
            <a:ext cx="10287000" cy="1015663"/>
          </a:xfrm>
          <a:prstGeom prst="rect">
            <a:avLst/>
          </a:prstGeom>
          <a:noFill/>
        </p:spPr>
        <p:txBody>
          <a:bodyPr vert="horz" wrap="square" lIns="0" tIns="0" rIns="0" bIns="0" rtlCol="0">
            <a:spAutoFit/>
          </a:bodyPr>
          <a:lstStyle/>
          <a:p>
            <a:r>
              <a:rPr lang="en-US" sz="2200">
                <a:solidFill>
                  <a:srgbClr val="536367"/>
                </a:solidFill>
                <a:latin typeface="Aptos" panose="020B0004020202020204" pitchFamily="34" charset="0"/>
              </a:rPr>
              <a:t>01   How the prototype works</a:t>
            </a:r>
          </a:p>
          <a:p>
            <a:r>
              <a:rPr lang="en-US" sz="2200">
                <a:solidFill>
                  <a:srgbClr val="536367"/>
                </a:solidFill>
                <a:latin typeface="Aptos" panose="020B0004020202020204" pitchFamily="34" charset="0"/>
              </a:rPr>
              <a:t>02   Review of sample reports</a:t>
            </a:r>
          </a:p>
          <a:p>
            <a:r>
              <a:rPr lang="en-US" sz="2200">
                <a:solidFill>
                  <a:srgbClr val="536367"/>
                </a:solidFill>
                <a:latin typeface="Aptos" panose="020B0004020202020204" pitchFamily="34" charset="0"/>
              </a:rPr>
              <a:t>03   Improvements for the final version</a:t>
            </a:r>
          </a:p>
        </p:txBody>
      </p:sp>
    </p:spTree>
    <p:extLst>
      <p:ext uri="{BB962C8B-B14F-4D97-AF65-F5344CB8AC3E}">
        <p14:creationId xmlns:p14="http://schemas.microsoft.com/office/powerpoint/2010/main" val="3392554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D8AB7B-1711-5E80-9798-BB0BEFA0F785}"/>
              </a:ext>
            </a:extLst>
          </p:cNvPr>
          <p:cNvSpPr txBox="1"/>
          <p:nvPr/>
        </p:nvSpPr>
        <p:spPr>
          <a:xfrm>
            <a:off x="609600" y="355600"/>
            <a:ext cx="10668000" cy="200055"/>
          </a:xfrm>
          <a:prstGeom prst="rect">
            <a:avLst/>
          </a:prstGeom>
          <a:noFill/>
        </p:spPr>
        <p:txBody>
          <a:bodyPr vert="horz" wrap="square" lIns="0" tIns="0" rIns="0" bIns="0" rtlCol="0">
            <a:spAutoFit/>
          </a:bodyPr>
          <a:lstStyle/>
          <a:p>
            <a:r>
              <a:rPr lang="en-US" sz="1300" b="1">
                <a:solidFill>
                  <a:srgbClr val="16776C"/>
                </a:solidFill>
                <a:latin typeface="Aptos" panose="020B0004020202020204" pitchFamily="34" charset="0"/>
              </a:rPr>
              <a:t>01  PROTOTYPE OVERVIEW</a:t>
            </a:r>
          </a:p>
        </p:txBody>
      </p:sp>
      <p:sp>
        <p:nvSpPr>
          <p:cNvPr id="3" name="TextBox 2">
            <a:extLst>
              <a:ext uri="{FF2B5EF4-FFF2-40B4-BE49-F238E27FC236}">
                <a16:creationId xmlns:a16="http://schemas.microsoft.com/office/drawing/2014/main" id="{FF6AB210-C6F6-CE74-7540-8EA5ABA867A1}"/>
              </a:ext>
            </a:extLst>
          </p:cNvPr>
          <p:cNvSpPr txBox="1"/>
          <p:nvPr/>
        </p:nvSpPr>
        <p:spPr>
          <a:xfrm>
            <a:off x="609600" y="838200"/>
            <a:ext cx="10972800" cy="492443"/>
          </a:xfrm>
          <a:prstGeom prst="rect">
            <a:avLst/>
          </a:prstGeom>
          <a:noFill/>
        </p:spPr>
        <p:txBody>
          <a:bodyPr vert="horz" wrap="square" lIns="0" tIns="0" rIns="0" bIns="0" rtlCol="0">
            <a:spAutoFit/>
          </a:bodyPr>
          <a:lstStyle/>
          <a:p>
            <a:r>
              <a:rPr lang="en-US" sz="3200" b="1">
                <a:solidFill>
                  <a:srgbClr val="173C43"/>
                </a:solidFill>
                <a:latin typeface="Aptos" panose="020B0004020202020204" pitchFamily="34" charset="0"/>
              </a:rPr>
              <a:t>How the prototype works</a:t>
            </a:r>
          </a:p>
        </p:txBody>
      </p:sp>
      <p:sp>
        <p:nvSpPr>
          <p:cNvPr id="4" name="TextBox 3">
            <a:extLst>
              <a:ext uri="{FF2B5EF4-FFF2-40B4-BE49-F238E27FC236}">
                <a16:creationId xmlns:a16="http://schemas.microsoft.com/office/drawing/2014/main" id="{E6C9B9CB-7040-BB75-E388-608522178FBD}"/>
              </a:ext>
            </a:extLst>
          </p:cNvPr>
          <p:cNvSpPr txBox="1"/>
          <p:nvPr/>
        </p:nvSpPr>
        <p:spPr>
          <a:xfrm>
            <a:off x="11049000" y="6350000"/>
            <a:ext cx="533400" cy="184666"/>
          </a:xfrm>
          <a:prstGeom prst="rect">
            <a:avLst/>
          </a:prstGeom>
          <a:noFill/>
        </p:spPr>
        <p:txBody>
          <a:bodyPr vert="horz" wrap="square" lIns="0" tIns="0" rIns="0" bIns="0" rtlCol="0">
            <a:spAutoFit/>
          </a:bodyPr>
          <a:lstStyle/>
          <a:p>
            <a:r>
              <a:rPr lang="en-US" sz="1200">
                <a:solidFill>
                  <a:srgbClr val="536367"/>
                </a:solidFill>
                <a:latin typeface="Aptos" panose="020B0004020202020204" pitchFamily="34" charset="0"/>
              </a:rPr>
              <a:t>02</a:t>
            </a:r>
          </a:p>
        </p:txBody>
      </p:sp>
      <p:sp>
        <p:nvSpPr>
          <p:cNvPr id="5" name="TextBox 4">
            <a:extLst>
              <a:ext uri="{FF2B5EF4-FFF2-40B4-BE49-F238E27FC236}">
                <a16:creationId xmlns:a16="http://schemas.microsoft.com/office/drawing/2014/main" id="{B517A8C4-E0BC-DD2A-2576-E10FBDBCD4D4}"/>
              </a:ext>
            </a:extLst>
          </p:cNvPr>
          <p:cNvSpPr txBox="1"/>
          <p:nvPr/>
        </p:nvSpPr>
        <p:spPr>
          <a:xfrm>
            <a:off x="609600" y="2108200"/>
            <a:ext cx="10668000" cy="353943"/>
          </a:xfrm>
          <a:prstGeom prst="rect">
            <a:avLst/>
          </a:prstGeom>
          <a:noFill/>
        </p:spPr>
        <p:txBody>
          <a:bodyPr vert="horz" wrap="square" lIns="0" tIns="0" rIns="0" bIns="0" rtlCol="0">
            <a:spAutoFit/>
          </a:bodyPr>
          <a:lstStyle/>
          <a:p>
            <a:r>
              <a:rPr lang="en-US" sz="2300" b="1">
                <a:solidFill>
                  <a:srgbClr val="16776C"/>
                </a:solidFill>
                <a:latin typeface="Aptos" panose="020B0004020202020204" pitchFamily="34" charset="0"/>
              </a:rPr>
              <a:t>Collect parish websites and pages</a:t>
            </a:r>
          </a:p>
        </p:txBody>
      </p:sp>
      <p:sp>
        <p:nvSpPr>
          <p:cNvPr id="6" name="TextBox 5">
            <a:extLst>
              <a:ext uri="{FF2B5EF4-FFF2-40B4-BE49-F238E27FC236}">
                <a16:creationId xmlns:a16="http://schemas.microsoft.com/office/drawing/2014/main" id="{03F2DBBE-AA3C-F27F-28B5-57CE55D10823}"/>
              </a:ext>
            </a:extLst>
          </p:cNvPr>
          <p:cNvSpPr txBox="1"/>
          <p:nvPr/>
        </p:nvSpPr>
        <p:spPr>
          <a:xfrm>
            <a:off x="609600" y="2641600"/>
            <a:ext cx="10668000" cy="646331"/>
          </a:xfrm>
          <a:prstGeom prst="rect">
            <a:avLst/>
          </a:prstGeom>
          <a:noFill/>
        </p:spPr>
        <p:txBody>
          <a:bodyPr vert="horz" wrap="square" lIns="0" tIns="0" rIns="0" bIns="0" rtlCol="0">
            <a:spAutoFit/>
          </a:bodyPr>
          <a:lstStyle/>
          <a:p>
            <a:r>
              <a:rPr lang="en-US" sz="2100">
                <a:solidFill>
                  <a:srgbClr val="173C43"/>
                </a:solidFill>
                <a:latin typeface="Aptos" panose="020B0004020202020204" pitchFamily="34" charset="0"/>
              </a:rPr>
              <a:t>Diocesan directories supply parish identities. Sitemaps and homepage links supply candidate pages.</a:t>
            </a:r>
          </a:p>
        </p:txBody>
      </p:sp>
      <p:sp>
        <p:nvSpPr>
          <p:cNvPr id="7" name="TextBox 6">
            <a:extLst>
              <a:ext uri="{FF2B5EF4-FFF2-40B4-BE49-F238E27FC236}">
                <a16:creationId xmlns:a16="http://schemas.microsoft.com/office/drawing/2014/main" id="{50298469-8214-E380-C5A2-283DE6076DE4}"/>
              </a:ext>
            </a:extLst>
          </p:cNvPr>
          <p:cNvSpPr txBox="1"/>
          <p:nvPr/>
        </p:nvSpPr>
        <p:spPr>
          <a:xfrm>
            <a:off x="609600" y="3505200"/>
            <a:ext cx="10668000" cy="353943"/>
          </a:xfrm>
          <a:prstGeom prst="rect">
            <a:avLst/>
          </a:prstGeom>
          <a:noFill/>
        </p:spPr>
        <p:txBody>
          <a:bodyPr vert="horz" wrap="square" lIns="0" tIns="0" rIns="0" bIns="0" rtlCol="0">
            <a:spAutoFit/>
          </a:bodyPr>
          <a:lstStyle/>
          <a:p>
            <a:r>
              <a:rPr lang="en-US" sz="2300" b="1">
                <a:solidFill>
                  <a:srgbClr val="16776C"/>
                </a:solidFill>
                <a:latin typeface="Aptos" panose="020B0004020202020204" pitchFamily="34" charset="0"/>
              </a:rPr>
              <a:t>Extract ministries and parish features</a:t>
            </a:r>
          </a:p>
        </p:txBody>
      </p:sp>
      <p:sp>
        <p:nvSpPr>
          <p:cNvPr id="8" name="TextBox 7">
            <a:extLst>
              <a:ext uri="{FF2B5EF4-FFF2-40B4-BE49-F238E27FC236}">
                <a16:creationId xmlns:a16="http://schemas.microsoft.com/office/drawing/2014/main" id="{A647BED9-1068-1CA4-8865-E8C86998E434}"/>
              </a:ext>
            </a:extLst>
          </p:cNvPr>
          <p:cNvSpPr txBox="1"/>
          <p:nvPr/>
        </p:nvSpPr>
        <p:spPr>
          <a:xfrm>
            <a:off x="609600" y="4038600"/>
            <a:ext cx="10668000" cy="646331"/>
          </a:xfrm>
          <a:prstGeom prst="rect">
            <a:avLst/>
          </a:prstGeom>
          <a:noFill/>
        </p:spPr>
        <p:txBody>
          <a:bodyPr vert="horz" wrap="square" lIns="0" tIns="0" rIns="0" bIns="0" rtlCol="0">
            <a:spAutoFit/>
          </a:bodyPr>
          <a:lstStyle/>
          <a:p>
            <a:r>
              <a:rPr lang="en-US" sz="2100">
                <a:solidFill>
                  <a:srgbClr val="173C43"/>
                </a:solidFill>
                <a:latin typeface="Aptos" panose="020B0004020202020204" pitchFamily="34" charset="0"/>
              </a:rPr>
              <a:t>Page rules and AI produce ministry labels. County data and website signals describe parish context.</a:t>
            </a:r>
          </a:p>
        </p:txBody>
      </p:sp>
      <p:sp>
        <p:nvSpPr>
          <p:cNvPr id="9" name="TextBox 8">
            <a:extLst>
              <a:ext uri="{FF2B5EF4-FFF2-40B4-BE49-F238E27FC236}">
                <a16:creationId xmlns:a16="http://schemas.microsoft.com/office/drawing/2014/main" id="{7665FEE8-7946-E1A9-68B8-E9F15A05A471}"/>
              </a:ext>
            </a:extLst>
          </p:cNvPr>
          <p:cNvSpPr txBox="1"/>
          <p:nvPr/>
        </p:nvSpPr>
        <p:spPr>
          <a:xfrm>
            <a:off x="609600" y="4902200"/>
            <a:ext cx="10668000" cy="353943"/>
          </a:xfrm>
          <a:prstGeom prst="rect">
            <a:avLst/>
          </a:prstGeom>
          <a:noFill/>
        </p:spPr>
        <p:txBody>
          <a:bodyPr vert="horz" wrap="square" lIns="0" tIns="0" rIns="0" bIns="0" rtlCol="0">
            <a:spAutoFit/>
          </a:bodyPr>
          <a:lstStyle/>
          <a:p>
            <a:r>
              <a:rPr lang="en-US" sz="2300" b="1">
                <a:solidFill>
                  <a:srgbClr val="16776C"/>
                </a:solidFill>
                <a:latin typeface="Aptos" panose="020B0004020202020204" pitchFamily="34" charset="0"/>
              </a:rPr>
              <a:t>Find peers and generate reports</a:t>
            </a:r>
          </a:p>
        </p:txBody>
      </p:sp>
      <p:sp>
        <p:nvSpPr>
          <p:cNvPr id="10" name="TextBox 9">
            <a:extLst>
              <a:ext uri="{FF2B5EF4-FFF2-40B4-BE49-F238E27FC236}">
                <a16:creationId xmlns:a16="http://schemas.microsoft.com/office/drawing/2014/main" id="{AD91C0AB-192C-10D2-F85B-4F140ECF7DC4}"/>
              </a:ext>
            </a:extLst>
          </p:cNvPr>
          <p:cNvSpPr txBox="1"/>
          <p:nvPr/>
        </p:nvSpPr>
        <p:spPr>
          <a:xfrm>
            <a:off x="609600" y="5435600"/>
            <a:ext cx="10668000" cy="646331"/>
          </a:xfrm>
          <a:prstGeom prst="rect">
            <a:avLst/>
          </a:prstGeom>
          <a:noFill/>
        </p:spPr>
        <p:txBody>
          <a:bodyPr vert="horz" wrap="square" lIns="0" tIns="0" rIns="0" bIns="0" rtlCol="0">
            <a:spAutoFit/>
          </a:bodyPr>
          <a:lstStyle/>
          <a:p>
            <a:r>
              <a:rPr lang="en-US" sz="2100">
                <a:solidFill>
                  <a:srgbClr val="173C43"/>
                </a:solidFill>
                <a:latin typeface="Aptos" panose="020B0004020202020204" pitchFamily="34" charset="0"/>
              </a:rPr>
              <a:t>KMeans groups similar profiles. Each report compares the target with ten peers and links to evidence.</a:t>
            </a:r>
          </a:p>
        </p:txBody>
      </p:sp>
    </p:spTree>
    <p:extLst>
      <p:ext uri="{BB962C8B-B14F-4D97-AF65-F5344CB8AC3E}">
        <p14:creationId xmlns:p14="http://schemas.microsoft.com/office/powerpoint/2010/main" val="4098072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15FE9E-4EB8-7100-5F11-EC1E2659FCC8}"/>
              </a:ext>
            </a:extLst>
          </p:cNvPr>
          <p:cNvSpPr txBox="1"/>
          <p:nvPr/>
        </p:nvSpPr>
        <p:spPr>
          <a:xfrm>
            <a:off x="609600" y="355600"/>
            <a:ext cx="10668000" cy="200055"/>
          </a:xfrm>
          <a:prstGeom prst="rect">
            <a:avLst/>
          </a:prstGeom>
          <a:noFill/>
        </p:spPr>
        <p:txBody>
          <a:bodyPr vert="horz" wrap="square" lIns="0" tIns="0" rIns="0" bIns="0" rtlCol="0">
            <a:spAutoFit/>
          </a:bodyPr>
          <a:lstStyle/>
          <a:p>
            <a:r>
              <a:rPr lang="en-US" sz="1300" b="1">
                <a:solidFill>
                  <a:srgbClr val="16776C"/>
                </a:solidFill>
                <a:latin typeface="Aptos" panose="020B0004020202020204" pitchFamily="34" charset="0"/>
              </a:rPr>
              <a:t>01  PROTOTYPE OVERVIEW</a:t>
            </a:r>
          </a:p>
        </p:txBody>
      </p:sp>
      <p:sp>
        <p:nvSpPr>
          <p:cNvPr id="3" name="TextBox 2">
            <a:extLst>
              <a:ext uri="{FF2B5EF4-FFF2-40B4-BE49-F238E27FC236}">
                <a16:creationId xmlns:a16="http://schemas.microsoft.com/office/drawing/2014/main" id="{A2A00236-8639-BCEC-7520-23778B5E81B6}"/>
              </a:ext>
            </a:extLst>
          </p:cNvPr>
          <p:cNvSpPr txBox="1"/>
          <p:nvPr/>
        </p:nvSpPr>
        <p:spPr>
          <a:xfrm>
            <a:off x="609600" y="838200"/>
            <a:ext cx="10972800" cy="492443"/>
          </a:xfrm>
          <a:prstGeom prst="rect">
            <a:avLst/>
          </a:prstGeom>
          <a:noFill/>
        </p:spPr>
        <p:txBody>
          <a:bodyPr vert="horz" wrap="square" lIns="0" tIns="0" rIns="0" bIns="0" rtlCol="0">
            <a:spAutoFit/>
          </a:bodyPr>
          <a:lstStyle/>
          <a:p>
            <a:r>
              <a:rPr lang="en-US" sz="3200" b="1">
                <a:solidFill>
                  <a:srgbClr val="173C43"/>
                </a:solidFill>
                <a:latin typeface="Aptos" panose="020B0004020202020204" pitchFamily="34" charset="0"/>
              </a:rPr>
              <a:t>What makes a parish comparable?</a:t>
            </a:r>
          </a:p>
        </p:txBody>
      </p:sp>
      <p:sp>
        <p:nvSpPr>
          <p:cNvPr id="4" name="TextBox 3">
            <a:extLst>
              <a:ext uri="{FF2B5EF4-FFF2-40B4-BE49-F238E27FC236}">
                <a16:creationId xmlns:a16="http://schemas.microsoft.com/office/drawing/2014/main" id="{A6EB608E-C512-B2A4-BD12-4EFBF3219F79}"/>
              </a:ext>
            </a:extLst>
          </p:cNvPr>
          <p:cNvSpPr txBox="1"/>
          <p:nvPr/>
        </p:nvSpPr>
        <p:spPr>
          <a:xfrm>
            <a:off x="11049000" y="6350000"/>
            <a:ext cx="533400" cy="184666"/>
          </a:xfrm>
          <a:prstGeom prst="rect">
            <a:avLst/>
          </a:prstGeom>
          <a:noFill/>
        </p:spPr>
        <p:txBody>
          <a:bodyPr vert="horz" wrap="square" lIns="0" tIns="0" rIns="0" bIns="0" rtlCol="0">
            <a:spAutoFit/>
          </a:bodyPr>
          <a:lstStyle/>
          <a:p>
            <a:r>
              <a:rPr lang="en-US" sz="1200">
                <a:solidFill>
                  <a:srgbClr val="536367"/>
                </a:solidFill>
                <a:latin typeface="Aptos" panose="020B0004020202020204" pitchFamily="34" charset="0"/>
              </a:rPr>
              <a:t>03</a:t>
            </a:r>
          </a:p>
        </p:txBody>
      </p:sp>
      <p:sp>
        <p:nvSpPr>
          <p:cNvPr id="5" name="TextBox 4">
            <a:extLst>
              <a:ext uri="{FF2B5EF4-FFF2-40B4-BE49-F238E27FC236}">
                <a16:creationId xmlns:a16="http://schemas.microsoft.com/office/drawing/2014/main" id="{6B52F741-4AB5-67CD-67D3-F83FF809D3BC}"/>
              </a:ext>
            </a:extLst>
          </p:cNvPr>
          <p:cNvSpPr txBox="1"/>
          <p:nvPr/>
        </p:nvSpPr>
        <p:spPr>
          <a:xfrm>
            <a:off x="609600" y="2108200"/>
            <a:ext cx="10668000" cy="353943"/>
          </a:xfrm>
          <a:prstGeom prst="rect">
            <a:avLst/>
          </a:prstGeom>
          <a:noFill/>
        </p:spPr>
        <p:txBody>
          <a:bodyPr vert="horz" wrap="square" lIns="0" tIns="0" rIns="0" bIns="0" rtlCol="0">
            <a:spAutoFit/>
          </a:bodyPr>
          <a:lstStyle/>
          <a:p>
            <a:r>
              <a:rPr lang="en-US" sz="2300" b="1">
                <a:solidFill>
                  <a:srgbClr val="16776C"/>
                </a:solidFill>
                <a:latin typeface="Aptos" panose="020B0004020202020204" pitchFamily="34" charset="0"/>
              </a:rPr>
              <a:t>Four features define the comparison</a:t>
            </a:r>
          </a:p>
        </p:txBody>
      </p:sp>
      <p:sp>
        <p:nvSpPr>
          <p:cNvPr id="6" name="TextBox 5">
            <a:extLst>
              <a:ext uri="{FF2B5EF4-FFF2-40B4-BE49-F238E27FC236}">
                <a16:creationId xmlns:a16="http://schemas.microsoft.com/office/drawing/2014/main" id="{C1D8CBB0-53C6-D14F-0362-048E8D105EF9}"/>
              </a:ext>
            </a:extLst>
          </p:cNvPr>
          <p:cNvSpPr txBox="1"/>
          <p:nvPr/>
        </p:nvSpPr>
        <p:spPr>
          <a:xfrm>
            <a:off x="609600" y="2641600"/>
            <a:ext cx="10668000" cy="646331"/>
          </a:xfrm>
          <a:prstGeom prst="rect">
            <a:avLst/>
          </a:prstGeom>
          <a:noFill/>
        </p:spPr>
        <p:txBody>
          <a:bodyPr vert="horz" wrap="square" lIns="0" tIns="0" rIns="0" bIns="0" rtlCol="0">
            <a:spAutoFit/>
          </a:bodyPr>
          <a:lstStyle/>
          <a:p>
            <a:r>
              <a:rPr lang="en-US" sz="2100">
                <a:solidFill>
                  <a:srgbClr val="173C43"/>
                </a:solidFill>
                <a:latin typeface="Aptos" panose="020B0004020202020204" pitchFamily="34" charset="0"/>
              </a:rPr>
              <a:t>County population and median age, homepage social-link count, and predicted school affiliation.</a:t>
            </a:r>
          </a:p>
        </p:txBody>
      </p:sp>
      <p:sp>
        <p:nvSpPr>
          <p:cNvPr id="7" name="TextBox 6">
            <a:extLst>
              <a:ext uri="{FF2B5EF4-FFF2-40B4-BE49-F238E27FC236}">
                <a16:creationId xmlns:a16="http://schemas.microsoft.com/office/drawing/2014/main" id="{DBB65E20-702C-CCCA-EFEF-C5CA81469E44}"/>
              </a:ext>
            </a:extLst>
          </p:cNvPr>
          <p:cNvSpPr txBox="1"/>
          <p:nvPr/>
        </p:nvSpPr>
        <p:spPr>
          <a:xfrm>
            <a:off x="609600" y="3505200"/>
            <a:ext cx="10668000" cy="353943"/>
          </a:xfrm>
          <a:prstGeom prst="rect">
            <a:avLst/>
          </a:prstGeom>
          <a:noFill/>
        </p:spPr>
        <p:txBody>
          <a:bodyPr vert="horz" wrap="square" lIns="0" tIns="0" rIns="0" bIns="0" rtlCol="0">
            <a:spAutoFit/>
          </a:bodyPr>
          <a:lstStyle/>
          <a:p>
            <a:r>
              <a:rPr lang="en-US" sz="2300" b="1">
                <a:solidFill>
                  <a:srgbClr val="16776C"/>
                </a:solidFill>
                <a:latin typeface="Aptos" panose="020B0004020202020204" pitchFamily="34" charset="0"/>
              </a:rPr>
              <a:t>Five clusters in the saved run</a:t>
            </a:r>
          </a:p>
        </p:txBody>
      </p:sp>
      <p:sp>
        <p:nvSpPr>
          <p:cNvPr id="8" name="TextBox 7">
            <a:extLst>
              <a:ext uri="{FF2B5EF4-FFF2-40B4-BE49-F238E27FC236}">
                <a16:creationId xmlns:a16="http://schemas.microsoft.com/office/drawing/2014/main" id="{0247D879-9184-06FC-14DF-9B3D5F29CE5D}"/>
              </a:ext>
            </a:extLst>
          </p:cNvPr>
          <p:cNvSpPr txBox="1"/>
          <p:nvPr/>
        </p:nvSpPr>
        <p:spPr>
          <a:xfrm>
            <a:off x="609600" y="4038600"/>
            <a:ext cx="10668000" cy="646331"/>
          </a:xfrm>
          <a:prstGeom prst="rect">
            <a:avLst/>
          </a:prstGeom>
          <a:noFill/>
        </p:spPr>
        <p:txBody>
          <a:bodyPr vert="horz" wrap="square" lIns="0" tIns="0" rIns="0" bIns="0" rtlCol="0">
            <a:spAutoFit/>
          </a:bodyPr>
          <a:lstStyle/>
          <a:p>
            <a:r>
              <a:rPr lang="en-US" sz="2100">
                <a:solidFill>
                  <a:srgbClr val="173C43"/>
                </a:solidFill>
                <a:latin typeface="Aptos" panose="020B0004020202020204" pitchFamily="34" charset="0"/>
              </a:rPr>
              <a:t>The model fits complete records and ranks ten reference peers within each target parish's cluster.</a:t>
            </a:r>
          </a:p>
        </p:txBody>
      </p:sp>
      <p:sp>
        <p:nvSpPr>
          <p:cNvPr id="9" name="TextBox 8">
            <a:extLst>
              <a:ext uri="{FF2B5EF4-FFF2-40B4-BE49-F238E27FC236}">
                <a16:creationId xmlns:a16="http://schemas.microsoft.com/office/drawing/2014/main" id="{223B3F99-A297-8C77-53D5-0BB6ACED8EF7}"/>
              </a:ext>
            </a:extLst>
          </p:cNvPr>
          <p:cNvSpPr txBox="1"/>
          <p:nvPr/>
        </p:nvSpPr>
        <p:spPr>
          <a:xfrm>
            <a:off x="609600" y="4902200"/>
            <a:ext cx="10668000" cy="353943"/>
          </a:xfrm>
          <a:prstGeom prst="rect">
            <a:avLst/>
          </a:prstGeom>
          <a:noFill/>
        </p:spPr>
        <p:txBody>
          <a:bodyPr vert="horz" wrap="square" lIns="0" tIns="0" rIns="0" bIns="0" rtlCol="0">
            <a:spAutoFit/>
          </a:bodyPr>
          <a:lstStyle/>
          <a:p>
            <a:r>
              <a:rPr lang="en-US" sz="2300" b="1">
                <a:solidFill>
                  <a:srgbClr val="16776C"/>
                </a:solidFill>
                <a:latin typeface="Aptos" panose="020B0004020202020204" pitchFamily="34" charset="0"/>
              </a:rPr>
              <a:t>Interpretation limits</a:t>
            </a:r>
          </a:p>
        </p:txBody>
      </p:sp>
      <p:sp>
        <p:nvSpPr>
          <p:cNvPr id="10" name="TextBox 9">
            <a:extLst>
              <a:ext uri="{FF2B5EF4-FFF2-40B4-BE49-F238E27FC236}">
                <a16:creationId xmlns:a16="http://schemas.microsoft.com/office/drawing/2014/main" id="{6743065D-F968-4650-BA9D-0FDD1BF04EED}"/>
              </a:ext>
            </a:extLst>
          </p:cNvPr>
          <p:cNvSpPr txBox="1"/>
          <p:nvPr/>
        </p:nvSpPr>
        <p:spPr>
          <a:xfrm>
            <a:off x="609600" y="5435600"/>
            <a:ext cx="10668000" cy="646331"/>
          </a:xfrm>
          <a:prstGeom prst="rect">
            <a:avLst/>
          </a:prstGeom>
          <a:noFill/>
        </p:spPr>
        <p:txBody>
          <a:bodyPr vert="horz" wrap="square" lIns="0" tIns="0" rIns="0" bIns="0" rtlCol="0">
            <a:spAutoFit/>
          </a:bodyPr>
          <a:lstStyle/>
          <a:p>
            <a:r>
              <a:rPr lang="en-US" sz="2100">
                <a:solidFill>
                  <a:srgbClr val="173C43"/>
                </a:solidFill>
                <a:latin typeface="Aptos" panose="020B0004020202020204" pitchFamily="34" charset="0"/>
              </a:rPr>
              <a:t>Distance measures similarity in the model, rather than miles. Shared county values can produce zero-distance ties.</a:t>
            </a:r>
          </a:p>
        </p:txBody>
      </p:sp>
    </p:spTree>
    <p:extLst>
      <p:ext uri="{BB962C8B-B14F-4D97-AF65-F5344CB8AC3E}">
        <p14:creationId xmlns:p14="http://schemas.microsoft.com/office/powerpoint/2010/main" val="3541038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A1A7D7-B2A6-D10F-75E1-EF2A64C25A71}"/>
              </a:ext>
            </a:extLst>
          </p:cNvPr>
          <p:cNvSpPr txBox="1"/>
          <p:nvPr/>
        </p:nvSpPr>
        <p:spPr>
          <a:xfrm>
            <a:off x="609600" y="355600"/>
            <a:ext cx="10668000" cy="200055"/>
          </a:xfrm>
          <a:prstGeom prst="rect">
            <a:avLst/>
          </a:prstGeom>
          <a:noFill/>
        </p:spPr>
        <p:txBody>
          <a:bodyPr vert="horz" wrap="square" lIns="0" tIns="0" rIns="0" bIns="0" rtlCol="0">
            <a:spAutoFit/>
          </a:bodyPr>
          <a:lstStyle/>
          <a:p>
            <a:r>
              <a:rPr lang="en-US" sz="1300" b="1">
                <a:solidFill>
                  <a:srgbClr val="16776C"/>
                </a:solidFill>
                <a:latin typeface="Aptos" panose="020B0004020202020204" pitchFamily="34" charset="0"/>
              </a:rPr>
              <a:t>01  PROTOTYPE OVERVIEW</a:t>
            </a:r>
          </a:p>
        </p:txBody>
      </p:sp>
      <p:sp>
        <p:nvSpPr>
          <p:cNvPr id="3" name="TextBox 2">
            <a:extLst>
              <a:ext uri="{FF2B5EF4-FFF2-40B4-BE49-F238E27FC236}">
                <a16:creationId xmlns:a16="http://schemas.microsoft.com/office/drawing/2014/main" id="{4B77A446-C7A7-550F-C7F6-0D95942A5606}"/>
              </a:ext>
            </a:extLst>
          </p:cNvPr>
          <p:cNvSpPr txBox="1"/>
          <p:nvPr/>
        </p:nvSpPr>
        <p:spPr>
          <a:xfrm>
            <a:off x="609600" y="838200"/>
            <a:ext cx="10972800" cy="492443"/>
          </a:xfrm>
          <a:prstGeom prst="rect">
            <a:avLst/>
          </a:prstGeom>
          <a:noFill/>
        </p:spPr>
        <p:txBody>
          <a:bodyPr vert="horz" wrap="square" lIns="0" tIns="0" rIns="0" bIns="0" rtlCol="0">
            <a:spAutoFit/>
          </a:bodyPr>
          <a:lstStyle/>
          <a:p>
            <a:r>
              <a:rPr lang="en-US" sz="3200" b="1">
                <a:solidFill>
                  <a:srgbClr val="173C43"/>
                </a:solidFill>
                <a:latin typeface="Aptos" panose="020B0004020202020204" pitchFamily="34" charset="0"/>
              </a:rPr>
              <a:t>The saved prototype report set</a:t>
            </a:r>
          </a:p>
        </p:txBody>
      </p:sp>
      <p:sp>
        <p:nvSpPr>
          <p:cNvPr id="4" name="TextBox 3">
            <a:extLst>
              <a:ext uri="{FF2B5EF4-FFF2-40B4-BE49-F238E27FC236}">
                <a16:creationId xmlns:a16="http://schemas.microsoft.com/office/drawing/2014/main" id="{03F91FDC-FA2E-4AB3-A0C9-A77FF849B866}"/>
              </a:ext>
            </a:extLst>
          </p:cNvPr>
          <p:cNvSpPr txBox="1"/>
          <p:nvPr/>
        </p:nvSpPr>
        <p:spPr>
          <a:xfrm>
            <a:off x="11049000" y="6350000"/>
            <a:ext cx="533400" cy="184666"/>
          </a:xfrm>
          <a:prstGeom prst="rect">
            <a:avLst/>
          </a:prstGeom>
          <a:noFill/>
        </p:spPr>
        <p:txBody>
          <a:bodyPr vert="horz" wrap="square" lIns="0" tIns="0" rIns="0" bIns="0" rtlCol="0">
            <a:spAutoFit/>
          </a:bodyPr>
          <a:lstStyle/>
          <a:p>
            <a:r>
              <a:rPr lang="en-US" sz="1200">
                <a:solidFill>
                  <a:srgbClr val="536367"/>
                </a:solidFill>
                <a:latin typeface="Aptos" panose="020B0004020202020204" pitchFamily="34" charset="0"/>
              </a:rPr>
              <a:t>04</a:t>
            </a:r>
          </a:p>
        </p:txBody>
      </p:sp>
      <p:sp>
        <p:nvSpPr>
          <p:cNvPr id="5" name="TextBox 4">
            <a:extLst>
              <a:ext uri="{FF2B5EF4-FFF2-40B4-BE49-F238E27FC236}">
                <a16:creationId xmlns:a16="http://schemas.microsoft.com/office/drawing/2014/main" id="{81EE74EE-DEC3-B5F5-CD06-9F98CA0F9F93}"/>
              </a:ext>
            </a:extLst>
          </p:cNvPr>
          <p:cNvSpPr txBox="1"/>
          <p:nvPr/>
        </p:nvSpPr>
        <p:spPr>
          <a:xfrm>
            <a:off x="609600" y="2159000"/>
            <a:ext cx="4445000" cy="1015663"/>
          </a:xfrm>
          <a:prstGeom prst="rect">
            <a:avLst/>
          </a:prstGeom>
          <a:noFill/>
        </p:spPr>
        <p:txBody>
          <a:bodyPr vert="horz" wrap="square" lIns="0" tIns="0" rIns="0" bIns="0" rtlCol="0">
            <a:spAutoFit/>
          </a:bodyPr>
          <a:lstStyle/>
          <a:p>
            <a:r>
              <a:rPr lang="en-US" sz="6600" b="1">
                <a:solidFill>
                  <a:srgbClr val="16776C"/>
                </a:solidFill>
                <a:latin typeface="Aptos" panose="020B0004020202020204" pitchFamily="34" charset="0"/>
              </a:rPr>
              <a:t>80</a:t>
            </a:r>
          </a:p>
        </p:txBody>
      </p:sp>
      <p:sp>
        <p:nvSpPr>
          <p:cNvPr id="6" name="TextBox 5">
            <a:extLst>
              <a:ext uri="{FF2B5EF4-FFF2-40B4-BE49-F238E27FC236}">
                <a16:creationId xmlns:a16="http://schemas.microsoft.com/office/drawing/2014/main" id="{66816347-4687-F6E1-5E07-D689F6E5099F}"/>
              </a:ext>
            </a:extLst>
          </p:cNvPr>
          <p:cNvSpPr txBox="1"/>
          <p:nvPr/>
        </p:nvSpPr>
        <p:spPr>
          <a:xfrm>
            <a:off x="609600" y="3302000"/>
            <a:ext cx="4572000" cy="369332"/>
          </a:xfrm>
          <a:prstGeom prst="rect">
            <a:avLst/>
          </a:prstGeom>
          <a:noFill/>
        </p:spPr>
        <p:txBody>
          <a:bodyPr vert="horz" wrap="square" lIns="0" tIns="0" rIns="0" bIns="0" rtlCol="0">
            <a:spAutoFit/>
          </a:bodyPr>
          <a:lstStyle/>
          <a:p>
            <a:r>
              <a:rPr lang="en-US" sz="2400">
                <a:solidFill>
                  <a:srgbClr val="173C43"/>
                </a:solidFill>
                <a:latin typeface="Aptos" panose="020B0004020202020204" pitchFamily="34" charset="0"/>
              </a:rPr>
              <a:t>parish reports</a:t>
            </a:r>
          </a:p>
        </p:txBody>
      </p:sp>
      <p:sp>
        <p:nvSpPr>
          <p:cNvPr id="7" name="TextBox 6">
            <a:extLst>
              <a:ext uri="{FF2B5EF4-FFF2-40B4-BE49-F238E27FC236}">
                <a16:creationId xmlns:a16="http://schemas.microsoft.com/office/drawing/2014/main" id="{FA729FE6-4CB0-E7F9-DA4F-ECAA76A853BA}"/>
              </a:ext>
            </a:extLst>
          </p:cNvPr>
          <p:cNvSpPr txBox="1"/>
          <p:nvPr/>
        </p:nvSpPr>
        <p:spPr>
          <a:xfrm>
            <a:off x="609600" y="4076700"/>
            <a:ext cx="4826000" cy="677108"/>
          </a:xfrm>
          <a:prstGeom prst="rect">
            <a:avLst/>
          </a:prstGeom>
          <a:noFill/>
        </p:spPr>
        <p:txBody>
          <a:bodyPr vert="horz" wrap="square" lIns="0" tIns="0" rIns="0" bIns="0" rtlCol="0">
            <a:spAutoFit/>
          </a:bodyPr>
          <a:lstStyle/>
          <a:p>
            <a:r>
              <a:rPr lang="en-US" sz="2200">
                <a:solidFill>
                  <a:srgbClr val="536367"/>
                </a:solidFill>
                <a:latin typeface="Aptos" panose="020B0004020202020204" pitchFamily="34" charset="0"/>
              </a:rPr>
              <a:t>Diocese of Fort Wayne-South Bend</a:t>
            </a:r>
          </a:p>
          <a:p>
            <a:r>
              <a:rPr lang="en-US" sz="2200">
                <a:solidFill>
                  <a:srgbClr val="536367"/>
                </a:solidFill>
                <a:latin typeface="Aptos" panose="020B0004020202020204" pitchFamily="34" charset="0"/>
              </a:rPr>
              <a:t>Ten peers per target parish</a:t>
            </a:r>
          </a:p>
        </p:txBody>
      </p:sp>
      <p:sp>
        <p:nvSpPr>
          <p:cNvPr id="8" name="TextBox 7">
            <a:extLst>
              <a:ext uri="{FF2B5EF4-FFF2-40B4-BE49-F238E27FC236}">
                <a16:creationId xmlns:a16="http://schemas.microsoft.com/office/drawing/2014/main" id="{42C5B6AB-0730-DA84-71F7-9AA1DB18761E}"/>
              </a:ext>
            </a:extLst>
          </p:cNvPr>
          <p:cNvSpPr txBox="1"/>
          <p:nvPr/>
        </p:nvSpPr>
        <p:spPr>
          <a:xfrm>
            <a:off x="6604000" y="2159000"/>
            <a:ext cx="4826000" cy="738664"/>
          </a:xfrm>
          <a:prstGeom prst="rect">
            <a:avLst/>
          </a:prstGeom>
          <a:noFill/>
        </p:spPr>
        <p:txBody>
          <a:bodyPr vert="horz" wrap="square" lIns="0" tIns="0" rIns="0" bIns="0" rtlCol="0">
            <a:spAutoFit/>
          </a:bodyPr>
          <a:lstStyle/>
          <a:p>
            <a:r>
              <a:rPr lang="en-US" sz="4800" b="1">
                <a:solidFill>
                  <a:srgbClr val="173C43"/>
                </a:solidFill>
                <a:latin typeface="Aptos" panose="020B0004020202020204" pitchFamily="34" charset="0"/>
              </a:rPr>
              <a:t>21</a:t>
            </a:r>
          </a:p>
        </p:txBody>
      </p:sp>
      <p:sp>
        <p:nvSpPr>
          <p:cNvPr id="9" name="TextBox 8">
            <a:extLst>
              <a:ext uri="{FF2B5EF4-FFF2-40B4-BE49-F238E27FC236}">
                <a16:creationId xmlns:a16="http://schemas.microsoft.com/office/drawing/2014/main" id="{2850E28F-A430-77A8-952B-374144C09DF5}"/>
              </a:ext>
            </a:extLst>
          </p:cNvPr>
          <p:cNvSpPr txBox="1"/>
          <p:nvPr/>
        </p:nvSpPr>
        <p:spPr>
          <a:xfrm>
            <a:off x="6604000" y="3048000"/>
            <a:ext cx="4826000" cy="677108"/>
          </a:xfrm>
          <a:prstGeom prst="rect">
            <a:avLst/>
          </a:prstGeom>
          <a:noFill/>
        </p:spPr>
        <p:txBody>
          <a:bodyPr vert="horz" wrap="square" lIns="0" tIns="0" rIns="0" bIns="0" rtlCol="0">
            <a:spAutoFit/>
          </a:bodyPr>
          <a:lstStyle/>
          <a:p>
            <a:r>
              <a:rPr lang="en-US" sz="2200">
                <a:solidFill>
                  <a:srgbClr val="173C43"/>
                </a:solidFill>
                <a:latin typeface="Aptos" panose="020B0004020202020204" pitchFamily="34" charset="0"/>
              </a:rPr>
              <a:t>parishes have no recorded ministry labels</a:t>
            </a:r>
          </a:p>
        </p:txBody>
      </p:sp>
      <p:sp>
        <p:nvSpPr>
          <p:cNvPr id="10" name="TextBox 9">
            <a:extLst>
              <a:ext uri="{FF2B5EF4-FFF2-40B4-BE49-F238E27FC236}">
                <a16:creationId xmlns:a16="http://schemas.microsoft.com/office/drawing/2014/main" id="{646F2E8D-3690-9F4C-0C88-7A87CF7633EE}"/>
              </a:ext>
            </a:extLst>
          </p:cNvPr>
          <p:cNvSpPr txBox="1"/>
          <p:nvPr/>
        </p:nvSpPr>
        <p:spPr>
          <a:xfrm>
            <a:off x="6604000" y="4254500"/>
            <a:ext cx="4826000" cy="738664"/>
          </a:xfrm>
          <a:prstGeom prst="rect">
            <a:avLst/>
          </a:prstGeom>
          <a:noFill/>
        </p:spPr>
        <p:txBody>
          <a:bodyPr vert="horz" wrap="square" lIns="0" tIns="0" rIns="0" bIns="0" rtlCol="0">
            <a:spAutoFit/>
          </a:bodyPr>
          <a:lstStyle/>
          <a:p>
            <a:r>
              <a:rPr lang="en-US" sz="4800" b="1">
                <a:solidFill>
                  <a:srgbClr val="173C43"/>
                </a:solidFill>
                <a:latin typeface="Aptos" panose="020B0004020202020204" pitchFamily="34" charset="0"/>
              </a:rPr>
              <a:t>13</a:t>
            </a:r>
          </a:p>
        </p:txBody>
      </p:sp>
      <p:sp>
        <p:nvSpPr>
          <p:cNvPr id="11" name="TextBox 10">
            <a:extLst>
              <a:ext uri="{FF2B5EF4-FFF2-40B4-BE49-F238E27FC236}">
                <a16:creationId xmlns:a16="http://schemas.microsoft.com/office/drawing/2014/main" id="{D6FE09BD-D881-96EC-FC59-C0AB6CE77F27}"/>
              </a:ext>
            </a:extLst>
          </p:cNvPr>
          <p:cNvSpPr txBox="1"/>
          <p:nvPr/>
        </p:nvSpPr>
        <p:spPr>
          <a:xfrm>
            <a:off x="6604000" y="5143500"/>
            <a:ext cx="4826000" cy="677108"/>
          </a:xfrm>
          <a:prstGeom prst="rect">
            <a:avLst/>
          </a:prstGeom>
          <a:noFill/>
        </p:spPr>
        <p:txBody>
          <a:bodyPr vert="horz" wrap="square" lIns="0" tIns="0" rIns="0" bIns="0" rtlCol="0">
            <a:spAutoFit/>
          </a:bodyPr>
          <a:lstStyle/>
          <a:p>
            <a:r>
              <a:rPr lang="en-US" sz="2200">
                <a:solidFill>
                  <a:srgbClr val="173C43"/>
                </a:solidFill>
                <a:latin typeface="Aptos" panose="020B0004020202020204" pitchFamily="34" charset="0"/>
              </a:rPr>
              <a:t>comparisons use imputed target features</a:t>
            </a:r>
          </a:p>
        </p:txBody>
      </p:sp>
    </p:spTree>
    <p:extLst>
      <p:ext uri="{BB962C8B-B14F-4D97-AF65-F5344CB8AC3E}">
        <p14:creationId xmlns:p14="http://schemas.microsoft.com/office/powerpoint/2010/main" val="2824486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250461-03F9-C1B3-EBF0-E3DC5BADA74A}"/>
              </a:ext>
            </a:extLst>
          </p:cNvPr>
          <p:cNvSpPr txBox="1"/>
          <p:nvPr/>
        </p:nvSpPr>
        <p:spPr>
          <a:xfrm>
            <a:off x="609600" y="355600"/>
            <a:ext cx="10668000" cy="200055"/>
          </a:xfrm>
          <a:prstGeom prst="rect">
            <a:avLst/>
          </a:prstGeom>
          <a:noFill/>
        </p:spPr>
        <p:txBody>
          <a:bodyPr vert="horz" wrap="square" lIns="0" tIns="0" rIns="0" bIns="0" rtlCol="0">
            <a:spAutoFit/>
          </a:bodyPr>
          <a:lstStyle/>
          <a:p>
            <a:r>
              <a:rPr lang="en-US" sz="1300" b="1">
                <a:solidFill>
                  <a:srgbClr val="16776C"/>
                </a:solidFill>
                <a:latin typeface="Aptos" panose="020B0004020202020204" pitchFamily="34" charset="0"/>
              </a:rPr>
              <a:t>02  SAMPLE REPORTS</a:t>
            </a:r>
          </a:p>
        </p:txBody>
      </p:sp>
      <p:sp>
        <p:nvSpPr>
          <p:cNvPr id="3" name="TextBox 2">
            <a:extLst>
              <a:ext uri="{FF2B5EF4-FFF2-40B4-BE49-F238E27FC236}">
                <a16:creationId xmlns:a16="http://schemas.microsoft.com/office/drawing/2014/main" id="{6FB25997-91AF-3326-0610-C973A00D8126}"/>
              </a:ext>
            </a:extLst>
          </p:cNvPr>
          <p:cNvSpPr txBox="1"/>
          <p:nvPr/>
        </p:nvSpPr>
        <p:spPr>
          <a:xfrm>
            <a:off x="609600" y="838200"/>
            <a:ext cx="10972800" cy="492443"/>
          </a:xfrm>
          <a:prstGeom prst="rect">
            <a:avLst/>
          </a:prstGeom>
          <a:noFill/>
        </p:spPr>
        <p:txBody>
          <a:bodyPr vert="horz" wrap="square" lIns="0" tIns="0" rIns="0" bIns="0" rtlCol="0">
            <a:spAutoFit/>
          </a:bodyPr>
          <a:lstStyle/>
          <a:p>
            <a:r>
              <a:rPr lang="en-US" sz="3200" b="1">
                <a:solidFill>
                  <a:srgbClr val="173C43"/>
                </a:solidFill>
                <a:latin typeface="Aptos" panose="020B0004020202020204" pitchFamily="34" charset="0"/>
              </a:rPr>
              <a:t>St. Pius X: a detailed ministry inventory</a:t>
            </a:r>
          </a:p>
        </p:txBody>
      </p:sp>
      <p:sp>
        <p:nvSpPr>
          <p:cNvPr id="4" name="TextBox 3">
            <a:extLst>
              <a:ext uri="{FF2B5EF4-FFF2-40B4-BE49-F238E27FC236}">
                <a16:creationId xmlns:a16="http://schemas.microsoft.com/office/drawing/2014/main" id="{085963E4-823D-9E5A-932A-778289C8F62D}"/>
              </a:ext>
            </a:extLst>
          </p:cNvPr>
          <p:cNvSpPr txBox="1"/>
          <p:nvPr/>
        </p:nvSpPr>
        <p:spPr>
          <a:xfrm>
            <a:off x="11049000" y="6350000"/>
            <a:ext cx="533400" cy="184666"/>
          </a:xfrm>
          <a:prstGeom prst="rect">
            <a:avLst/>
          </a:prstGeom>
          <a:noFill/>
        </p:spPr>
        <p:txBody>
          <a:bodyPr vert="horz" wrap="square" lIns="0" tIns="0" rIns="0" bIns="0" rtlCol="0">
            <a:spAutoFit/>
          </a:bodyPr>
          <a:lstStyle/>
          <a:p>
            <a:r>
              <a:rPr lang="en-US" sz="1200">
                <a:solidFill>
                  <a:srgbClr val="536367"/>
                </a:solidFill>
                <a:latin typeface="Aptos" panose="020B0004020202020204" pitchFamily="34" charset="0"/>
              </a:rPr>
              <a:t>05</a:t>
            </a:r>
          </a:p>
        </p:txBody>
      </p:sp>
      <p:sp>
        <p:nvSpPr>
          <p:cNvPr id="5" name="TextBox 4">
            <a:extLst>
              <a:ext uri="{FF2B5EF4-FFF2-40B4-BE49-F238E27FC236}">
                <a16:creationId xmlns:a16="http://schemas.microsoft.com/office/drawing/2014/main" id="{69B0C490-03F7-2598-B68A-8637ED3198EF}"/>
              </a:ext>
            </a:extLst>
          </p:cNvPr>
          <p:cNvSpPr txBox="1"/>
          <p:nvPr/>
        </p:nvSpPr>
        <p:spPr>
          <a:xfrm>
            <a:off x="609600" y="2133600"/>
            <a:ext cx="4953000" cy="646331"/>
          </a:xfrm>
          <a:prstGeom prst="rect">
            <a:avLst/>
          </a:prstGeom>
          <a:noFill/>
        </p:spPr>
        <p:txBody>
          <a:bodyPr vert="horz" wrap="square" lIns="0" tIns="0" rIns="0" bIns="0" rtlCol="0">
            <a:spAutoFit/>
          </a:bodyPr>
          <a:lstStyle/>
          <a:p>
            <a:r>
              <a:rPr lang="en-US" sz="4200" b="1">
                <a:solidFill>
                  <a:srgbClr val="16776C"/>
                </a:solidFill>
                <a:latin typeface="Aptos" panose="020B0004020202020204" pitchFamily="34" charset="0"/>
              </a:rPr>
              <a:t>46 labels</a:t>
            </a:r>
          </a:p>
        </p:txBody>
      </p:sp>
      <p:sp>
        <p:nvSpPr>
          <p:cNvPr id="6" name="TextBox 5">
            <a:extLst>
              <a:ext uri="{FF2B5EF4-FFF2-40B4-BE49-F238E27FC236}">
                <a16:creationId xmlns:a16="http://schemas.microsoft.com/office/drawing/2014/main" id="{B6533C01-AC6C-2D82-F739-D6BE82DEF7D5}"/>
              </a:ext>
            </a:extLst>
          </p:cNvPr>
          <p:cNvSpPr txBox="1"/>
          <p:nvPr/>
        </p:nvSpPr>
        <p:spPr>
          <a:xfrm>
            <a:off x="609600" y="3086100"/>
            <a:ext cx="4699000" cy="707886"/>
          </a:xfrm>
          <a:prstGeom prst="rect">
            <a:avLst/>
          </a:prstGeom>
          <a:noFill/>
        </p:spPr>
        <p:txBody>
          <a:bodyPr vert="horz" wrap="square" lIns="0" tIns="0" rIns="0" bIns="0" rtlCol="0">
            <a:spAutoFit/>
          </a:bodyPr>
          <a:lstStyle/>
          <a:p>
            <a:r>
              <a:rPr lang="en-US" sz="2300">
                <a:solidFill>
                  <a:srgbClr val="173C43"/>
                </a:solidFill>
                <a:latin typeface="Aptos" panose="020B0004020202020204" pitchFamily="34" charset="0"/>
              </a:rPr>
              <a:t>505 listed pages resolved or rule-skipped</a:t>
            </a:r>
          </a:p>
        </p:txBody>
      </p:sp>
      <p:sp>
        <p:nvSpPr>
          <p:cNvPr id="7" name="TextBox 6">
            <a:extLst>
              <a:ext uri="{FF2B5EF4-FFF2-40B4-BE49-F238E27FC236}">
                <a16:creationId xmlns:a16="http://schemas.microsoft.com/office/drawing/2014/main" id="{9CA4908C-5F7C-ED88-5C03-6238439D5039}"/>
              </a:ext>
            </a:extLst>
          </p:cNvPr>
          <p:cNvSpPr txBox="1"/>
          <p:nvPr/>
        </p:nvSpPr>
        <p:spPr>
          <a:xfrm>
            <a:off x="6477000" y="2209800"/>
            <a:ext cx="4953000" cy="353943"/>
          </a:xfrm>
          <a:prstGeom prst="rect">
            <a:avLst/>
          </a:prstGeom>
          <a:noFill/>
        </p:spPr>
        <p:txBody>
          <a:bodyPr vert="horz" wrap="square" lIns="0" tIns="0" rIns="0" bIns="0" rtlCol="0">
            <a:spAutoFit/>
          </a:bodyPr>
          <a:lstStyle/>
          <a:p>
            <a:r>
              <a:rPr lang="en-US" sz="2300" b="1">
                <a:solidFill>
                  <a:srgbClr val="16776C"/>
                </a:solidFill>
                <a:latin typeface="Aptos" panose="020B0004020202020204" pitchFamily="34" charset="0"/>
              </a:rPr>
              <a:t>Examples in the inventory</a:t>
            </a:r>
          </a:p>
        </p:txBody>
      </p:sp>
      <p:sp>
        <p:nvSpPr>
          <p:cNvPr id="8" name="TextBox 7">
            <a:extLst>
              <a:ext uri="{FF2B5EF4-FFF2-40B4-BE49-F238E27FC236}">
                <a16:creationId xmlns:a16="http://schemas.microsoft.com/office/drawing/2014/main" id="{B6FF8BF9-338A-CE8E-1946-3C63A692E44E}"/>
              </a:ext>
            </a:extLst>
          </p:cNvPr>
          <p:cNvSpPr txBox="1"/>
          <p:nvPr/>
        </p:nvSpPr>
        <p:spPr>
          <a:xfrm>
            <a:off x="6477000" y="2857500"/>
            <a:ext cx="4953000" cy="1477328"/>
          </a:xfrm>
          <a:prstGeom prst="rect">
            <a:avLst/>
          </a:prstGeom>
          <a:noFill/>
        </p:spPr>
        <p:txBody>
          <a:bodyPr vert="horz" wrap="square" lIns="0" tIns="0" rIns="0" bIns="0" rtlCol="0">
            <a:spAutoFit/>
          </a:bodyPr>
          <a:lstStyle/>
          <a:p>
            <a:r>
              <a:rPr lang="en-US" sz="2400">
                <a:solidFill>
                  <a:srgbClr val="173C43"/>
                </a:solidFill>
                <a:latin typeface="Aptos" panose="020B0004020202020204" pitchFamily="34" charset="0"/>
              </a:rPr>
              <a:t>Bereavement Ministry</a:t>
            </a:r>
          </a:p>
          <a:p>
            <a:r>
              <a:rPr lang="en-US" sz="2400">
                <a:solidFill>
                  <a:srgbClr val="173C43"/>
                </a:solidFill>
                <a:latin typeface="Aptos" panose="020B0004020202020204" pitchFamily="34" charset="0"/>
              </a:rPr>
              <a:t>Disability Ministry</a:t>
            </a:r>
          </a:p>
          <a:p>
            <a:r>
              <a:rPr lang="en-US" sz="2400">
                <a:solidFill>
                  <a:srgbClr val="173C43"/>
                </a:solidFill>
                <a:latin typeface="Aptos" panose="020B0004020202020204" pitchFamily="34" charset="0"/>
              </a:rPr>
              <a:t>Prison Ministry</a:t>
            </a:r>
          </a:p>
          <a:p>
            <a:r>
              <a:rPr lang="en-US" sz="2400">
                <a:solidFill>
                  <a:srgbClr val="173C43"/>
                </a:solidFill>
                <a:latin typeface="Aptos" panose="020B0004020202020204" pitchFamily="34" charset="0"/>
              </a:rPr>
              <a:t>Youth Ministry</a:t>
            </a:r>
          </a:p>
        </p:txBody>
      </p:sp>
      <p:sp>
        <p:nvSpPr>
          <p:cNvPr id="9" name="TextBox 8">
            <a:extLst>
              <a:ext uri="{FF2B5EF4-FFF2-40B4-BE49-F238E27FC236}">
                <a16:creationId xmlns:a16="http://schemas.microsoft.com/office/drawing/2014/main" id="{D335FFA1-33C5-669B-FE73-ED8AEFA4287A}"/>
              </a:ext>
            </a:extLst>
          </p:cNvPr>
          <p:cNvSpPr txBox="1"/>
          <p:nvPr/>
        </p:nvSpPr>
        <p:spPr>
          <a:xfrm>
            <a:off x="609600" y="5245100"/>
            <a:ext cx="10972800" cy="369332"/>
          </a:xfrm>
          <a:prstGeom prst="rect">
            <a:avLst/>
          </a:prstGeom>
          <a:noFill/>
        </p:spPr>
        <p:txBody>
          <a:bodyPr vert="horz" wrap="square" lIns="0" tIns="0" rIns="0" bIns="0" rtlCol="0">
            <a:spAutoFit/>
          </a:bodyPr>
          <a:lstStyle/>
          <a:p>
            <a:r>
              <a:rPr lang="en-US" sz="2400" b="1">
                <a:solidFill>
                  <a:srgbClr val="173C43"/>
                </a:solidFill>
                <a:latin typeface="Aptos" panose="020B0004020202020204" pitchFamily="34" charset="0"/>
              </a:rPr>
              <a:t>Review point: does the inventory reflect distinct, active ministries?</a:t>
            </a:r>
          </a:p>
        </p:txBody>
      </p:sp>
      <p:sp>
        <p:nvSpPr>
          <p:cNvPr id="10" name="TextBox 9">
            <a:hlinkClick r:id="rId3" action="ppaction://hlinkfile"/>
            <a:extLst>
              <a:ext uri="{FF2B5EF4-FFF2-40B4-BE49-F238E27FC236}">
                <a16:creationId xmlns:a16="http://schemas.microsoft.com/office/drawing/2014/main" id="{E62A70F1-6A43-08C1-AD4B-254B94E60B2A}"/>
              </a:ext>
            </a:extLst>
          </p:cNvPr>
          <p:cNvSpPr txBox="1"/>
          <p:nvPr/>
        </p:nvSpPr>
        <p:spPr>
          <a:xfrm>
            <a:off x="609600" y="6172200"/>
            <a:ext cx="6350000" cy="215444"/>
          </a:xfrm>
          <a:prstGeom prst="rect">
            <a:avLst/>
          </a:prstGeom>
          <a:noFill/>
        </p:spPr>
        <p:txBody>
          <a:bodyPr vert="horz" wrap="square" lIns="0" tIns="0" rIns="0" bIns="0" rtlCol="0">
            <a:spAutoFit/>
          </a:bodyPr>
          <a:lstStyle/>
          <a:p>
            <a:r>
              <a:rPr lang="en-US" sz="1400">
                <a:solidFill>
                  <a:srgbClr val="16776C"/>
                </a:solidFill>
                <a:latin typeface="Aptos" panose="020B0004020202020204" pitchFamily="34" charset="0"/>
              </a:rPr>
              <a:t>Open the sample report</a:t>
            </a:r>
          </a:p>
        </p:txBody>
      </p:sp>
    </p:spTree>
    <p:extLst>
      <p:ext uri="{BB962C8B-B14F-4D97-AF65-F5344CB8AC3E}">
        <p14:creationId xmlns:p14="http://schemas.microsoft.com/office/powerpoint/2010/main" val="5528469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7C04A5-0B70-9B47-AA83-9C170AAAB97E}"/>
              </a:ext>
            </a:extLst>
          </p:cNvPr>
          <p:cNvSpPr txBox="1"/>
          <p:nvPr/>
        </p:nvSpPr>
        <p:spPr>
          <a:xfrm>
            <a:off x="609600" y="355600"/>
            <a:ext cx="10668000" cy="200055"/>
          </a:xfrm>
          <a:prstGeom prst="rect">
            <a:avLst/>
          </a:prstGeom>
          <a:noFill/>
        </p:spPr>
        <p:txBody>
          <a:bodyPr vert="horz" wrap="square" lIns="0" tIns="0" rIns="0" bIns="0" rtlCol="0">
            <a:spAutoFit/>
          </a:bodyPr>
          <a:lstStyle/>
          <a:p>
            <a:r>
              <a:rPr lang="en-US" sz="1300" b="1">
                <a:solidFill>
                  <a:srgbClr val="16776C"/>
                </a:solidFill>
                <a:latin typeface="Aptos" panose="020B0004020202020204" pitchFamily="34" charset="0"/>
              </a:rPr>
              <a:t>02  SAMPLE REPORTS</a:t>
            </a:r>
          </a:p>
        </p:txBody>
      </p:sp>
      <p:sp>
        <p:nvSpPr>
          <p:cNvPr id="3" name="TextBox 2">
            <a:extLst>
              <a:ext uri="{FF2B5EF4-FFF2-40B4-BE49-F238E27FC236}">
                <a16:creationId xmlns:a16="http://schemas.microsoft.com/office/drawing/2014/main" id="{B6C49B16-0FE1-374D-03BB-7EFE3FC32A06}"/>
              </a:ext>
            </a:extLst>
          </p:cNvPr>
          <p:cNvSpPr txBox="1"/>
          <p:nvPr/>
        </p:nvSpPr>
        <p:spPr>
          <a:xfrm>
            <a:off x="609600" y="838200"/>
            <a:ext cx="10972800" cy="492443"/>
          </a:xfrm>
          <a:prstGeom prst="rect">
            <a:avLst/>
          </a:prstGeom>
          <a:noFill/>
        </p:spPr>
        <p:txBody>
          <a:bodyPr vert="horz" wrap="square" lIns="0" tIns="0" rIns="0" bIns="0" rtlCol="0">
            <a:spAutoFit/>
          </a:bodyPr>
          <a:lstStyle/>
          <a:p>
            <a:r>
              <a:rPr lang="en-US" sz="3200" b="1">
                <a:solidFill>
                  <a:srgbClr val="173C43"/>
                </a:solidFill>
                <a:latin typeface="Aptos" panose="020B0004020202020204" pitchFamily="34" charset="0"/>
              </a:rPr>
              <a:t>Holy Cross: label variants create apparent gaps</a:t>
            </a:r>
          </a:p>
        </p:txBody>
      </p:sp>
      <p:sp>
        <p:nvSpPr>
          <p:cNvPr id="4" name="TextBox 3">
            <a:extLst>
              <a:ext uri="{FF2B5EF4-FFF2-40B4-BE49-F238E27FC236}">
                <a16:creationId xmlns:a16="http://schemas.microsoft.com/office/drawing/2014/main" id="{18E16D80-A38A-D8DC-61BD-784407915396}"/>
              </a:ext>
            </a:extLst>
          </p:cNvPr>
          <p:cNvSpPr txBox="1"/>
          <p:nvPr/>
        </p:nvSpPr>
        <p:spPr>
          <a:xfrm>
            <a:off x="11049000" y="6350000"/>
            <a:ext cx="533400" cy="184666"/>
          </a:xfrm>
          <a:prstGeom prst="rect">
            <a:avLst/>
          </a:prstGeom>
          <a:noFill/>
        </p:spPr>
        <p:txBody>
          <a:bodyPr vert="horz" wrap="square" lIns="0" tIns="0" rIns="0" bIns="0" rtlCol="0">
            <a:spAutoFit/>
          </a:bodyPr>
          <a:lstStyle/>
          <a:p>
            <a:r>
              <a:rPr lang="en-US" sz="1200">
                <a:solidFill>
                  <a:srgbClr val="536367"/>
                </a:solidFill>
                <a:latin typeface="Aptos" panose="020B0004020202020204" pitchFamily="34" charset="0"/>
              </a:rPr>
              <a:t>06</a:t>
            </a:r>
          </a:p>
        </p:txBody>
      </p:sp>
      <p:sp>
        <p:nvSpPr>
          <p:cNvPr id="5" name="TextBox 4">
            <a:extLst>
              <a:ext uri="{FF2B5EF4-FFF2-40B4-BE49-F238E27FC236}">
                <a16:creationId xmlns:a16="http://schemas.microsoft.com/office/drawing/2014/main" id="{8B04C8C2-D736-9BDB-6124-8DD1A0E9B62E}"/>
              </a:ext>
            </a:extLst>
          </p:cNvPr>
          <p:cNvSpPr txBox="1"/>
          <p:nvPr/>
        </p:nvSpPr>
        <p:spPr>
          <a:xfrm>
            <a:off x="609600" y="2108200"/>
            <a:ext cx="10972800" cy="369332"/>
          </a:xfrm>
          <a:prstGeom prst="rect">
            <a:avLst/>
          </a:prstGeom>
          <a:noFill/>
        </p:spPr>
        <p:txBody>
          <a:bodyPr vert="horz" wrap="square" lIns="0" tIns="0" rIns="0" bIns="0" rtlCol="0">
            <a:spAutoFit/>
          </a:bodyPr>
          <a:lstStyle/>
          <a:p>
            <a:r>
              <a:rPr lang="en-US" sz="2400" b="1">
                <a:solidFill>
                  <a:srgbClr val="16776C"/>
                </a:solidFill>
                <a:latin typeface="Aptos" panose="020B0004020202020204" pitchFamily="34" charset="0"/>
              </a:rPr>
              <a:t>20 recorded labels, 45 additional neighbor labels</a:t>
            </a:r>
          </a:p>
        </p:txBody>
      </p:sp>
      <p:sp>
        <p:nvSpPr>
          <p:cNvPr id="6" name="TextBox 5">
            <a:extLst>
              <a:ext uri="{FF2B5EF4-FFF2-40B4-BE49-F238E27FC236}">
                <a16:creationId xmlns:a16="http://schemas.microsoft.com/office/drawing/2014/main" id="{91D408BE-3E22-A024-A94F-291233987030}"/>
              </a:ext>
            </a:extLst>
          </p:cNvPr>
          <p:cNvSpPr txBox="1"/>
          <p:nvPr/>
        </p:nvSpPr>
        <p:spPr>
          <a:xfrm>
            <a:off x="609600" y="3009900"/>
            <a:ext cx="10668000" cy="353943"/>
          </a:xfrm>
          <a:prstGeom prst="rect">
            <a:avLst/>
          </a:prstGeom>
          <a:noFill/>
        </p:spPr>
        <p:txBody>
          <a:bodyPr vert="horz" wrap="square" lIns="0" tIns="0" rIns="0" bIns="0" rtlCol="0">
            <a:spAutoFit/>
          </a:bodyPr>
          <a:lstStyle/>
          <a:p>
            <a:r>
              <a:rPr lang="en-US" sz="2300" b="1">
                <a:solidFill>
                  <a:srgbClr val="16776C"/>
                </a:solidFill>
                <a:latin typeface="Aptos" panose="020B0004020202020204" pitchFamily="34" charset="0"/>
              </a:rPr>
              <a:t>Recorded at Holy Cross</a:t>
            </a:r>
          </a:p>
        </p:txBody>
      </p:sp>
      <p:sp>
        <p:nvSpPr>
          <p:cNvPr id="7" name="TextBox 6">
            <a:extLst>
              <a:ext uri="{FF2B5EF4-FFF2-40B4-BE49-F238E27FC236}">
                <a16:creationId xmlns:a16="http://schemas.microsoft.com/office/drawing/2014/main" id="{5FDF8F45-5952-A8D2-DA72-280A6707E275}"/>
              </a:ext>
            </a:extLst>
          </p:cNvPr>
          <p:cNvSpPr txBox="1"/>
          <p:nvPr/>
        </p:nvSpPr>
        <p:spPr>
          <a:xfrm>
            <a:off x="609600" y="3543300"/>
            <a:ext cx="10668000" cy="323165"/>
          </a:xfrm>
          <a:prstGeom prst="rect">
            <a:avLst/>
          </a:prstGeom>
          <a:noFill/>
        </p:spPr>
        <p:txBody>
          <a:bodyPr vert="horz" wrap="square" lIns="0" tIns="0" rIns="0" bIns="0" rtlCol="0">
            <a:spAutoFit/>
          </a:bodyPr>
          <a:lstStyle/>
          <a:p>
            <a:r>
              <a:rPr lang="en-US" sz="2100">
                <a:solidFill>
                  <a:srgbClr val="173C43"/>
                </a:solidFill>
                <a:latin typeface="Aptos" panose="020B0004020202020204" pitchFamily="34" charset="0"/>
              </a:rPr>
              <a:t>St. Vincent de Paul Society</a:t>
            </a:r>
          </a:p>
        </p:txBody>
      </p:sp>
      <p:sp>
        <p:nvSpPr>
          <p:cNvPr id="8" name="TextBox 7">
            <a:extLst>
              <a:ext uri="{FF2B5EF4-FFF2-40B4-BE49-F238E27FC236}">
                <a16:creationId xmlns:a16="http://schemas.microsoft.com/office/drawing/2014/main" id="{C51E0693-AE2B-DFEA-4219-BBAEAD414F49}"/>
              </a:ext>
            </a:extLst>
          </p:cNvPr>
          <p:cNvSpPr txBox="1"/>
          <p:nvPr/>
        </p:nvSpPr>
        <p:spPr>
          <a:xfrm>
            <a:off x="609600" y="4318000"/>
            <a:ext cx="10668000" cy="353943"/>
          </a:xfrm>
          <a:prstGeom prst="rect">
            <a:avLst/>
          </a:prstGeom>
          <a:noFill/>
        </p:spPr>
        <p:txBody>
          <a:bodyPr vert="horz" wrap="square" lIns="0" tIns="0" rIns="0" bIns="0" rtlCol="0">
            <a:spAutoFit/>
          </a:bodyPr>
          <a:lstStyle/>
          <a:p>
            <a:r>
              <a:rPr lang="en-US" sz="2300" b="1">
                <a:solidFill>
                  <a:srgbClr val="16776C"/>
                </a:solidFill>
                <a:latin typeface="Aptos" panose="020B0004020202020204" pitchFamily="34" charset="0"/>
              </a:rPr>
              <a:t>Listed as an additional neighbor label</a:t>
            </a:r>
          </a:p>
        </p:txBody>
      </p:sp>
      <p:sp>
        <p:nvSpPr>
          <p:cNvPr id="9" name="TextBox 8">
            <a:extLst>
              <a:ext uri="{FF2B5EF4-FFF2-40B4-BE49-F238E27FC236}">
                <a16:creationId xmlns:a16="http://schemas.microsoft.com/office/drawing/2014/main" id="{7336432E-670A-D7D6-B59A-6BBF1A2A4C85}"/>
              </a:ext>
            </a:extLst>
          </p:cNvPr>
          <p:cNvSpPr txBox="1"/>
          <p:nvPr/>
        </p:nvSpPr>
        <p:spPr>
          <a:xfrm>
            <a:off x="609600" y="4851400"/>
            <a:ext cx="10668000" cy="323165"/>
          </a:xfrm>
          <a:prstGeom prst="rect">
            <a:avLst/>
          </a:prstGeom>
          <a:noFill/>
        </p:spPr>
        <p:txBody>
          <a:bodyPr vert="horz" wrap="square" lIns="0" tIns="0" rIns="0" bIns="0" rtlCol="0">
            <a:spAutoFit/>
          </a:bodyPr>
          <a:lstStyle/>
          <a:p>
            <a:r>
              <a:rPr lang="fr-FR" sz="2100">
                <a:solidFill>
                  <a:srgbClr val="173C43"/>
                </a:solidFill>
                <a:latin typeface="Aptos" panose="020B0004020202020204" pitchFamily="34" charset="0"/>
              </a:rPr>
              <a:t>Saint Vincent de Paul Society</a:t>
            </a:r>
            <a:endParaRPr lang="en-US" sz="2100">
              <a:solidFill>
                <a:srgbClr val="173C43"/>
              </a:solidFill>
              <a:latin typeface="Aptos" panose="020B0004020202020204" pitchFamily="34" charset="0"/>
            </a:endParaRPr>
          </a:p>
        </p:txBody>
      </p:sp>
      <p:sp>
        <p:nvSpPr>
          <p:cNvPr id="10" name="TextBox 9">
            <a:extLst>
              <a:ext uri="{FF2B5EF4-FFF2-40B4-BE49-F238E27FC236}">
                <a16:creationId xmlns:a16="http://schemas.microsoft.com/office/drawing/2014/main" id="{02EBB3B0-43C4-06DA-51C7-7277987B990C}"/>
              </a:ext>
            </a:extLst>
          </p:cNvPr>
          <p:cNvSpPr txBox="1"/>
          <p:nvPr/>
        </p:nvSpPr>
        <p:spPr>
          <a:xfrm>
            <a:off x="609600" y="5651500"/>
            <a:ext cx="10972800" cy="353943"/>
          </a:xfrm>
          <a:prstGeom prst="rect">
            <a:avLst/>
          </a:prstGeom>
          <a:noFill/>
        </p:spPr>
        <p:txBody>
          <a:bodyPr vert="horz" wrap="square" lIns="0" tIns="0" rIns="0" bIns="0" rtlCol="0">
            <a:spAutoFit/>
          </a:bodyPr>
          <a:lstStyle/>
          <a:p>
            <a:r>
              <a:rPr lang="en-US" sz="2300" b="1">
                <a:solidFill>
                  <a:srgbClr val="173C43"/>
                </a:solidFill>
                <a:latin typeface="Aptos" panose="020B0004020202020204" pitchFamily="34" charset="0"/>
              </a:rPr>
              <a:t>Review point: should these names map to the same ministry?</a:t>
            </a:r>
          </a:p>
        </p:txBody>
      </p:sp>
      <p:sp>
        <p:nvSpPr>
          <p:cNvPr id="11" name="TextBox 10">
            <a:hlinkClick r:id="rId3" action="ppaction://hlinkfile"/>
            <a:extLst>
              <a:ext uri="{FF2B5EF4-FFF2-40B4-BE49-F238E27FC236}">
                <a16:creationId xmlns:a16="http://schemas.microsoft.com/office/drawing/2014/main" id="{C9DBBDE7-BF6A-2115-E7E5-2B907A701C41}"/>
              </a:ext>
            </a:extLst>
          </p:cNvPr>
          <p:cNvSpPr txBox="1"/>
          <p:nvPr/>
        </p:nvSpPr>
        <p:spPr>
          <a:xfrm>
            <a:off x="609600" y="6172200"/>
            <a:ext cx="6350000" cy="215444"/>
          </a:xfrm>
          <a:prstGeom prst="rect">
            <a:avLst/>
          </a:prstGeom>
          <a:noFill/>
        </p:spPr>
        <p:txBody>
          <a:bodyPr vert="horz" wrap="square" lIns="0" tIns="0" rIns="0" bIns="0" rtlCol="0">
            <a:spAutoFit/>
          </a:bodyPr>
          <a:lstStyle/>
          <a:p>
            <a:r>
              <a:rPr lang="en-US" sz="1400">
                <a:solidFill>
                  <a:srgbClr val="16776C"/>
                </a:solidFill>
                <a:latin typeface="Aptos" panose="020B0004020202020204" pitchFamily="34" charset="0"/>
              </a:rPr>
              <a:t>Open the sample report</a:t>
            </a:r>
          </a:p>
        </p:txBody>
      </p:sp>
    </p:spTree>
    <p:extLst>
      <p:ext uri="{BB962C8B-B14F-4D97-AF65-F5344CB8AC3E}">
        <p14:creationId xmlns:p14="http://schemas.microsoft.com/office/powerpoint/2010/main" val="1954595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0F09FF-87FA-9987-1332-EE8814CDDE8B}"/>
              </a:ext>
            </a:extLst>
          </p:cNvPr>
          <p:cNvSpPr txBox="1"/>
          <p:nvPr/>
        </p:nvSpPr>
        <p:spPr>
          <a:xfrm>
            <a:off x="609600" y="355600"/>
            <a:ext cx="10668000" cy="200055"/>
          </a:xfrm>
          <a:prstGeom prst="rect">
            <a:avLst/>
          </a:prstGeom>
          <a:noFill/>
        </p:spPr>
        <p:txBody>
          <a:bodyPr vert="horz" wrap="square" lIns="0" tIns="0" rIns="0" bIns="0" rtlCol="0">
            <a:spAutoFit/>
          </a:bodyPr>
          <a:lstStyle/>
          <a:p>
            <a:r>
              <a:rPr lang="en-US" sz="1300" b="1">
                <a:solidFill>
                  <a:srgbClr val="16776C"/>
                </a:solidFill>
                <a:latin typeface="Aptos" panose="020B0004020202020204" pitchFamily="34" charset="0"/>
              </a:rPr>
              <a:t>02  SAMPLE REPORTS</a:t>
            </a:r>
          </a:p>
        </p:txBody>
      </p:sp>
      <p:sp>
        <p:nvSpPr>
          <p:cNvPr id="3" name="TextBox 2">
            <a:extLst>
              <a:ext uri="{FF2B5EF4-FFF2-40B4-BE49-F238E27FC236}">
                <a16:creationId xmlns:a16="http://schemas.microsoft.com/office/drawing/2014/main" id="{92AD7E4A-6FE2-0534-33EA-0620ECB60F4B}"/>
              </a:ext>
            </a:extLst>
          </p:cNvPr>
          <p:cNvSpPr txBox="1"/>
          <p:nvPr/>
        </p:nvSpPr>
        <p:spPr>
          <a:xfrm>
            <a:off x="609600" y="838200"/>
            <a:ext cx="10972800" cy="492443"/>
          </a:xfrm>
          <a:prstGeom prst="rect">
            <a:avLst/>
          </a:prstGeom>
          <a:noFill/>
        </p:spPr>
        <p:txBody>
          <a:bodyPr vert="horz" wrap="square" lIns="0" tIns="0" rIns="0" bIns="0" rtlCol="0">
            <a:spAutoFit/>
          </a:bodyPr>
          <a:lstStyle/>
          <a:p>
            <a:r>
              <a:rPr lang="en-US" sz="3200" b="1">
                <a:solidFill>
                  <a:srgbClr val="173C43"/>
                </a:solidFill>
                <a:latin typeface="Aptos" panose="020B0004020202020204" pitchFamily="34" charset="0"/>
              </a:rPr>
              <a:t>Christ the King: missing data limits the report</a:t>
            </a:r>
          </a:p>
        </p:txBody>
      </p:sp>
      <p:sp>
        <p:nvSpPr>
          <p:cNvPr id="4" name="TextBox 3">
            <a:extLst>
              <a:ext uri="{FF2B5EF4-FFF2-40B4-BE49-F238E27FC236}">
                <a16:creationId xmlns:a16="http://schemas.microsoft.com/office/drawing/2014/main" id="{E194B3F4-6EBB-F406-5EE0-6DBFB4D48B0A}"/>
              </a:ext>
            </a:extLst>
          </p:cNvPr>
          <p:cNvSpPr txBox="1"/>
          <p:nvPr/>
        </p:nvSpPr>
        <p:spPr>
          <a:xfrm>
            <a:off x="11049000" y="6350000"/>
            <a:ext cx="533400" cy="184666"/>
          </a:xfrm>
          <a:prstGeom prst="rect">
            <a:avLst/>
          </a:prstGeom>
          <a:noFill/>
        </p:spPr>
        <p:txBody>
          <a:bodyPr vert="horz" wrap="square" lIns="0" tIns="0" rIns="0" bIns="0" rtlCol="0">
            <a:spAutoFit/>
          </a:bodyPr>
          <a:lstStyle/>
          <a:p>
            <a:r>
              <a:rPr lang="en-US" sz="1200">
                <a:solidFill>
                  <a:srgbClr val="536367"/>
                </a:solidFill>
                <a:latin typeface="Aptos" panose="020B0004020202020204" pitchFamily="34" charset="0"/>
              </a:rPr>
              <a:t>07</a:t>
            </a:r>
          </a:p>
        </p:txBody>
      </p:sp>
      <p:sp>
        <p:nvSpPr>
          <p:cNvPr id="5" name="TextBox 4">
            <a:extLst>
              <a:ext uri="{FF2B5EF4-FFF2-40B4-BE49-F238E27FC236}">
                <a16:creationId xmlns:a16="http://schemas.microsoft.com/office/drawing/2014/main" id="{89E57090-8EA8-67EC-E090-053EA9BEE26E}"/>
              </a:ext>
            </a:extLst>
          </p:cNvPr>
          <p:cNvSpPr txBox="1"/>
          <p:nvPr/>
        </p:nvSpPr>
        <p:spPr>
          <a:xfrm>
            <a:off x="609600" y="2108200"/>
            <a:ext cx="10668000" cy="353943"/>
          </a:xfrm>
          <a:prstGeom prst="rect">
            <a:avLst/>
          </a:prstGeom>
          <a:noFill/>
        </p:spPr>
        <p:txBody>
          <a:bodyPr vert="horz" wrap="square" lIns="0" tIns="0" rIns="0" bIns="0" rtlCol="0">
            <a:spAutoFit/>
          </a:bodyPr>
          <a:lstStyle/>
          <a:p>
            <a:r>
              <a:rPr lang="en-US" sz="2300" b="1">
                <a:solidFill>
                  <a:srgbClr val="16776C"/>
                </a:solidFill>
                <a:latin typeface="Aptos" panose="020B0004020202020204" pitchFamily="34" charset="0"/>
              </a:rPr>
              <a:t>No discovered pages and no recorded ministry labels</a:t>
            </a:r>
          </a:p>
        </p:txBody>
      </p:sp>
      <p:sp>
        <p:nvSpPr>
          <p:cNvPr id="6" name="TextBox 5">
            <a:extLst>
              <a:ext uri="{FF2B5EF4-FFF2-40B4-BE49-F238E27FC236}">
                <a16:creationId xmlns:a16="http://schemas.microsoft.com/office/drawing/2014/main" id="{050D843B-3455-9977-4D65-17680F171F1C}"/>
              </a:ext>
            </a:extLst>
          </p:cNvPr>
          <p:cNvSpPr txBox="1"/>
          <p:nvPr/>
        </p:nvSpPr>
        <p:spPr>
          <a:xfrm>
            <a:off x="609600" y="2641600"/>
            <a:ext cx="10668000" cy="323165"/>
          </a:xfrm>
          <a:prstGeom prst="rect">
            <a:avLst/>
          </a:prstGeom>
          <a:noFill/>
        </p:spPr>
        <p:txBody>
          <a:bodyPr vert="horz" wrap="square" lIns="0" tIns="0" rIns="0" bIns="0" rtlCol="0">
            <a:spAutoFit/>
          </a:bodyPr>
          <a:lstStyle/>
          <a:p>
            <a:r>
              <a:rPr lang="en-US" sz="2100">
                <a:solidFill>
                  <a:srgbClr val="173C43"/>
                </a:solidFill>
                <a:latin typeface="Aptos" panose="020B0004020202020204" pitchFamily="34" charset="0"/>
              </a:rPr>
              <a:t>The prototype has insufficient website evidence to describe the parish's ministry inventory.</a:t>
            </a:r>
          </a:p>
        </p:txBody>
      </p:sp>
      <p:sp>
        <p:nvSpPr>
          <p:cNvPr id="7" name="TextBox 6">
            <a:extLst>
              <a:ext uri="{FF2B5EF4-FFF2-40B4-BE49-F238E27FC236}">
                <a16:creationId xmlns:a16="http://schemas.microsoft.com/office/drawing/2014/main" id="{32A300A5-0E6C-4ACA-4DCF-DA8B65DD5A12}"/>
              </a:ext>
            </a:extLst>
          </p:cNvPr>
          <p:cNvSpPr txBox="1"/>
          <p:nvPr/>
        </p:nvSpPr>
        <p:spPr>
          <a:xfrm>
            <a:off x="609600" y="3556000"/>
            <a:ext cx="10668000" cy="353943"/>
          </a:xfrm>
          <a:prstGeom prst="rect">
            <a:avLst/>
          </a:prstGeom>
          <a:noFill/>
        </p:spPr>
        <p:txBody>
          <a:bodyPr vert="horz" wrap="square" lIns="0" tIns="0" rIns="0" bIns="0" rtlCol="0">
            <a:spAutoFit/>
          </a:bodyPr>
          <a:lstStyle/>
          <a:p>
            <a:r>
              <a:rPr lang="en-US" sz="2300" b="1">
                <a:solidFill>
                  <a:srgbClr val="16776C"/>
                </a:solidFill>
                <a:latin typeface="Aptos" panose="020B0004020202020204" pitchFamily="34" charset="0"/>
              </a:rPr>
              <a:t>Provisional peer comparison</a:t>
            </a:r>
          </a:p>
        </p:txBody>
      </p:sp>
      <p:sp>
        <p:nvSpPr>
          <p:cNvPr id="8" name="TextBox 7">
            <a:extLst>
              <a:ext uri="{FF2B5EF4-FFF2-40B4-BE49-F238E27FC236}">
                <a16:creationId xmlns:a16="http://schemas.microsoft.com/office/drawing/2014/main" id="{11536995-40B4-C3C3-173B-05B963016B82}"/>
              </a:ext>
            </a:extLst>
          </p:cNvPr>
          <p:cNvSpPr txBox="1"/>
          <p:nvPr/>
        </p:nvSpPr>
        <p:spPr>
          <a:xfrm>
            <a:off x="609600" y="4089400"/>
            <a:ext cx="10668000" cy="646331"/>
          </a:xfrm>
          <a:prstGeom prst="rect">
            <a:avLst/>
          </a:prstGeom>
          <a:noFill/>
        </p:spPr>
        <p:txBody>
          <a:bodyPr vert="horz" wrap="square" lIns="0" tIns="0" rIns="0" bIns="0" rtlCol="0">
            <a:spAutoFit/>
          </a:bodyPr>
          <a:lstStyle/>
          <a:p>
            <a:r>
              <a:rPr lang="en-US" sz="2100">
                <a:solidFill>
                  <a:srgbClr val="173C43"/>
                </a:solidFill>
                <a:latin typeface="Aptos" panose="020B0004020202020204" pitchFamily="34" charset="0"/>
              </a:rPr>
              <a:t>The model fills missing social-link and school values. The report still lists ten peers and 56 additional labels.</a:t>
            </a:r>
          </a:p>
        </p:txBody>
      </p:sp>
      <p:sp>
        <p:nvSpPr>
          <p:cNvPr id="9" name="TextBox 8">
            <a:extLst>
              <a:ext uri="{FF2B5EF4-FFF2-40B4-BE49-F238E27FC236}">
                <a16:creationId xmlns:a16="http://schemas.microsoft.com/office/drawing/2014/main" id="{F30C5CC2-F845-22C4-320D-44A55EA05DEB}"/>
              </a:ext>
            </a:extLst>
          </p:cNvPr>
          <p:cNvSpPr txBox="1"/>
          <p:nvPr/>
        </p:nvSpPr>
        <p:spPr>
          <a:xfrm>
            <a:off x="609600" y="5003800"/>
            <a:ext cx="10668000" cy="353943"/>
          </a:xfrm>
          <a:prstGeom prst="rect">
            <a:avLst/>
          </a:prstGeom>
          <a:noFill/>
        </p:spPr>
        <p:txBody>
          <a:bodyPr vert="horz" wrap="square" lIns="0" tIns="0" rIns="0" bIns="0" rtlCol="0">
            <a:spAutoFit/>
          </a:bodyPr>
          <a:lstStyle/>
          <a:p>
            <a:r>
              <a:rPr lang="en-US" sz="2300" b="1">
                <a:solidFill>
                  <a:srgbClr val="16776C"/>
                </a:solidFill>
                <a:latin typeface="Aptos" panose="020B0004020202020204" pitchFamily="34" charset="0"/>
              </a:rPr>
              <a:t>Review point</a:t>
            </a:r>
          </a:p>
        </p:txBody>
      </p:sp>
      <p:sp>
        <p:nvSpPr>
          <p:cNvPr id="10" name="TextBox 9">
            <a:extLst>
              <a:ext uri="{FF2B5EF4-FFF2-40B4-BE49-F238E27FC236}">
                <a16:creationId xmlns:a16="http://schemas.microsoft.com/office/drawing/2014/main" id="{AB360F58-F31B-3C7D-0D93-2895D26A5D86}"/>
              </a:ext>
            </a:extLst>
          </p:cNvPr>
          <p:cNvSpPr txBox="1"/>
          <p:nvPr/>
        </p:nvSpPr>
        <p:spPr>
          <a:xfrm>
            <a:off x="609600" y="5537200"/>
            <a:ext cx="10668000" cy="323165"/>
          </a:xfrm>
          <a:prstGeom prst="rect">
            <a:avLst/>
          </a:prstGeom>
          <a:noFill/>
        </p:spPr>
        <p:txBody>
          <a:bodyPr vert="horz" wrap="square" lIns="0" tIns="0" rIns="0" bIns="0" rtlCol="0">
            <a:spAutoFit/>
          </a:bodyPr>
          <a:lstStyle/>
          <a:p>
            <a:r>
              <a:rPr lang="en-US" sz="2100">
                <a:solidFill>
                  <a:srgbClr val="173C43"/>
                </a:solidFill>
                <a:latin typeface="Aptos" panose="020B0004020202020204" pitchFamily="34" charset="0"/>
              </a:rPr>
              <a:t>Would a data-review notice be more useful than a long list of apparent opportunities?</a:t>
            </a:r>
          </a:p>
        </p:txBody>
      </p:sp>
      <p:sp>
        <p:nvSpPr>
          <p:cNvPr id="11" name="TextBox 10">
            <a:hlinkClick r:id="rId3" action="ppaction://hlinkfile"/>
            <a:extLst>
              <a:ext uri="{FF2B5EF4-FFF2-40B4-BE49-F238E27FC236}">
                <a16:creationId xmlns:a16="http://schemas.microsoft.com/office/drawing/2014/main" id="{1DE6FCCF-4151-378C-1E37-EFDED9FFEBDE}"/>
              </a:ext>
            </a:extLst>
          </p:cNvPr>
          <p:cNvSpPr txBox="1"/>
          <p:nvPr/>
        </p:nvSpPr>
        <p:spPr>
          <a:xfrm>
            <a:off x="609600" y="6172200"/>
            <a:ext cx="6350000" cy="215444"/>
          </a:xfrm>
          <a:prstGeom prst="rect">
            <a:avLst/>
          </a:prstGeom>
          <a:noFill/>
        </p:spPr>
        <p:txBody>
          <a:bodyPr vert="horz" wrap="square" lIns="0" tIns="0" rIns="0" bIns="0" rtlCol="0">
            <a:spAutoFit/>
          </a:bodyPr>
          <a:lstStyle/>
          <a:p>
            <a:r>
              <a:rPr lang="en-US" sz="1400">
                <a:solidFill>
                  <a:srgbClr val="16776C"/>
                </a:solidFill>
                <a:latin typeface="Aptos" panose="020B0004020202020204" pitchFamily="34" charset="0"/>
              </a:rPr>
              <a:t>Open the sample report</a:t>
            </a:r>
          </a:p>
        </p:txBody>
      </p:sp>
    </p:spTree>
    <p:extLst>
      <p:ext uri="{BB962C8B-B14F-4D97-AF65-F5344CB8AC3E}">
        <p14:creationId xmlns:p14="http://schemas.microsoft.com/office/powerpoint/2010/main" val="712090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E5C472-764B-4095-A3E2-71D543213FE3}"/>
              </a:ext>
            </a:extLst>
          </p:cNvPr>
          <p:cNvSpPr txBox="1"/>
          <p:nvPr/>
        </p:nvSpPr>
        <p:spPr>
          <a:xfrm>
            <a:off x="609600" y="355600"/>
            <a:ext cx="10668000" cy="200055"/>
          </a:xfrm>
          <a:prstGeom prst="rect">
            <a:avLst/>
          </a:prstGeom>
          <a:noFill/>
        </p:spPr>
        <p:txBody>
          <a:bodyPr vert="horz" wrap="square" lIns="0" tIns="0" rIns="0" bIns="0" rtlCol="0">
            <a:spAutoFit/>
          </a:bodyPr>
          <a:lstStyle/>
          <a:p>
            <a:r>
              <a:rPr lang="en-US" sz="1300" b="1">
                <a:solidFill>
                  <a:srgbClr val="16776C"/>
                </a:solidFill>
                <a:latin typeface="Aptos" panose="020B0004020202020204" pitchFamily="34" charset="0"/>
              </a:rPr>
              <a:t>02  SAMPLE REPORTS</a:t>
            </a:r>
          </a:p>
        </p:txBody>
      </p:sp>
      <p:sp>
        <p:nvSpPr>
          <p:cNvPr id="3" name="TextBox 2">
            <a:extLst>
              <a:ext uri="{FF2B5EF4-FFF2-40B4-BE49-F238E27FC236}">
                <a16:creationId xmlns:a16="http://schemas.microsoft.com/office/drawing/2014/main" id="{1F3D4A18-F0BA-E15B-8837-C40D5D0244DD}"/>
              </a:ext>
            </a:extLst>
          </p:cNvPr>
          <p:cNvSpPr txBox="1"/>
          <p:nvPr/>
        </p:nvSpPr>
        <p:spPr>
          <a:xfrm>
            <a:off x="609600" y="838200"/>
            <a:ext cx="10972800" cy="492443"/>
          </a:xfrm>
          <a:prstGeom prst="rect">
            <a:avLst/>
          </a:prstGeom>
          <a:noFill/>
        </p:spPr>
        <p:txBody>
          <a:bodyPr vert="horz" wrap="square" lIns="0" tIns="0" rIns="0" bIns="0" rtlCol="0">
            <a:spAutoFit/>
          </a:bodyPr>
          <a:lstStyle/>
          <a:p>
            <a:r>
              <a:rPr lang="en-US" sz="3200" b="1">
                <a:solidFill>
                  <a:srgbClr val="173C43"/>
                </a:solidFill>
                <a:latin typeface="Aptos" panose="020B0004020202020204" pitchFamily="34" charset="0"/>
              </a:rPr>
              <a:t>What the sample reports tell us</a:t>
            </a:r>
          </a:p>
        </p:txBody>
      </p:sp>
      <p:sp>
        <p:nvSpPr>
          <p:cNvPr id="4" name="TextBox 3">
            <a:extLst>
              <a:ext uri="{FF2B5EF4-FFF2-40B4-BE49-F238E27FC236}">
                <a16:creationId xmlns:a16="http://schemas.microsoft.com/office/drawing/2014/main" id="{D1BF2A8C-463D-828D-6E83-4F8AF0AB6D83}"/>
              </a:ext>
            </a:extLst>
          </p:cNvPr>
          <p:cNvSpPr txBox="1"/>
          <p:nvPr/>
        </p:nvSpPr>
        <p:spPr>
          <a:xfrm>
            <a:off x="11049000" y="6350000"/>
            <a:ext cx="533400" cy="184666"/>
          </a:xfrm>
          <a:prstGeom prst="rect">
            <a:avLst/>
          </a:prstGeom>
          <a:noFill/>
        </p:spPr>
        <p:txBody>
          <a:bodyPr vert="horz" wrap="square" lIns="0" tIns="0" rIns="0" bIns="0" rtlCol="0">
            <a:spAutoFit/>
          </a:bodyPr>
          <a:lstStyle/>
          <a:p>
            <a:r>
              <a:rPr lang="en-US" sz="1200">
                <a:solidFill>
                  <a:srgbClr val="536367"/>
                </a:solidFill>
                <a:latin typeface="Aptos" panose="020B0004020202020204" pitchFamily="34" charset="0"/>
              </a:rPr>
              <a:t>08</a:t>
            </a:r>
          </a:p>
        </p:txBody>
      </p:sp>
      <p:graphicFrame>
        <p:nvGraphicFramePr>
          <p:cNvPr id="5" name="Table 4">
            <a:extLst>
              <a:ext uri="{FF2B5EF4-FFF2-40B4-BE49-F238E27FC236}">
                <a16:creationId xmlns:a16="http://schemas.microsoft.com/office/drawing/2014/main" id="{4B6EE492-19EE-94E1-72B1-047386CD23D6}"/>
              </a:ext>
            </a:extLst>
          </p:cNvPr>
          <p:cNvGraphicFramePr>
            <a:graphicFrameLocks noGrp="1"/>
          </p:cNvGraphicFramePr>
          <p:nvPr>
            <p:extLst>
              <p:ext uri="{D42A27DB-BD31-4B8C-83A1-F6EECF244321}">
                <p14:modId xmlns:p14="http://schemas.microsoft.com/office/powerpoint/2010/main" val="3449192026"/>
              </p:ext>
            </p:extLst>
          </p:nvPr>
        </p:nvGraphicFramePr>
        <p:xfrm>
          <a:off x="609600" y="2171700"/>
          <a:ext cx="10972800" cy="2336800"/>
        </p:xfrm>
        <a:graphic>
          <a:graphicData uri="http://schemas.openxmlformats.org/drawingml/2006/table">
            <a:tbl>
              <a:tblPr firstRow="1" bandRow="1">
                <a:tableStyleId>{5C22544A-7EE6-4342-B048-85BDC9FD1C3A}</a:tableStyleId>
              </a:tblPr>
              <a:tblGrid>
                <a:gridCol w="2476500">
                  <a:extLst>
                    <a:ext uri="{9D8B030D-6E8A-4147-A177-3AD203B41FA5}">
                      <a16:colId xmlns:a16="http://schemas.microsoft.com/office/drawing/2014/main" val="337426658"/>
                    </a:ext>
                  </a:extLst>
                </a:gridCol>
                <a:gridCol w="3937000">
                  <a:extLst>
                    <a:ext uri="{9D8B030D-6E8A-4147-A177-3AD203B41FA5}">
                      <a16:colId xmlns:a16="http://schemas.microsoft.com/office/drawing/2014/main" val="1530307805"/>
                    </a:ext>
                  </a:extLst>
                </a:gridCol>
                <a:gridCol w="4559300">
                  <a:extLst>
                    <a:ext uri="{9D8B030D-6E8A-4147-A177-3AD203B41FA5}">
                      <a16:colId xmlns:a16="http://schemas.microsoft.com/office/drawing/2014/main" val="1356839085"/>
                    </a:ext>
                  </a:extLst>
                </a:gridCol>
              </a:tblGrid>
              <a:tr h="584200">
                <a:tc>
                  <a:txBody>
                    <a:bodyPr/>
                    <a:lstStyle/>
                    <a:p>
                      <a:r>
                        <a:rPr lang="en-US" sz="1800" b="1">
                          <a:solidFill>
                            <a:srgbClr val="FFFFFF"/>
                          </a:solidFill>
                          <a:latin typeface="Aptos" panose="020B0004020202020204" pitchFamily="34" charset="0"/>
                        </a:rPr>
                        <a:t>Sample</a:t>
                      </a:r>
                    </a:p>
                  </a:txBody>
                  <a:tcPr marL="152400" marR="127000" marT="127000" marB="101600">
                    <a:solidFill>
                      <a:srgbClr val="173C43"/>
                    </a:solidFill>
                  </a:tcPr>
                </a:tc>
                <a:tc>
                  <a:txBody>
                    <a:bodyPr/>
                    <a:lstStyle/>
                    <a:p>
                      <a:r>
                        <a:rPr lang="en-US" sz="1800" b="1">
                          <a:solidFill>
                            <a:srgbClr val="FFFFFF"/>
                          </a:solidFill>
                          <a:latin typeface="Aptos" panose="020B0004020202020204" pitchFamily="34" charset="0"/>
                        </a:rPr>
                        <a:t>Useful output</a:t>
                      </a:r>
                    </a:p>
                  </a:txBody>
                  <a:tcPr marL="152400" marR="127000" marT="127000" marB="101600">
                    <a:solidFill>
                      <a:srgbClr val="173C43"/>
                    </a:solidFill>
                  </a:tcPr>
                </a:tc>
                <a:tc>
                  <a:txBody>
                    <a:bodyPr/>
                    <a:lstStyle/>
                    <a:p>
                      <a:r>
                        <a:rPr lang="en-US" sz="1800" b="1">
                          <a:solidFill>
                            <a:srgbClr val="FFFFFF"/>
                          </a:solidFill>
                          <a:latin typeface="Aptos" panose="020B0004020202020204" pitchFamily="34" charset="0"/>
                        </a:rPr>
                        <a:t>Review needed</a:t>
                      </a:r>
                    </a:p>
                  </a:txBody>
                  <a:tcPr marL="152400" marR="127000" marT="127000" marB="101600">
                    <a:solidFill>
                      <a:srgbClr val="173C43"/>
                    </a:solidFill>
                  </a:tcPr>
                </a:tc>
                <a:extLst>
                  <a:ext uri="{0D108BD9-81ED-4DB2-BD59-A6C34878D82A}">
                    <a16:rowId xmlns:a16="http://schemas.microsoft.com/office/drawing/2014/main" val="555761658"/>
                  </a:ext>
                </a:extLst>
              </a:tr>
              <a:tr h="584200">
                <a:tc>
                  <a:txBody>
                    <a:bodyPr/>
                    <a:lstStyle/>
                    <a:p>
                      <a:r>
                        <a:rPr lang="en-US" sz="1800" b="0">
                          <a:solidFill>
                            <a:srgbClr val="173C43"/>
                          </a:solidFill>
                          <a:latin typeface="Aptos" panose="020B0004020202020204" pitchFamily="34" charset="0"/>
                        </a:rPr>
                        <a:t>St. Pius X</a:t>
                      </a:r>
                    </a:p>
                  </a:txBody>
                  <a:tcPr marL="152400" marR="127000" marT="127000" marB="101600">
                    <a:solidFill>
                      <a:srgbClr val="FFFFFF"/>
                    </a:solidFill>
                  </a:tcPr>
                </a:tc>
                <a:tc>
                  <a:txBody>
                    <a:bodyPr/>
                    <a:lstStyle/>
                    <a:p>
                      <a:r>
                        <a:rPr lang="en-US" sz="1800" b="0">
                          <a:solidFill>
                            <a:srgbClr val="173C43"/>
                          </a:solidFill>
                          <a:latin typeface="Aptos" panose="020B0004020202020204" pitchFamily="34" charset="0"/>
                        </a:rPr>
                        <a:t>Source-linked inventory</a:t>
                      </a:r>
                    </a:p>
                  </a:txBody>
                  <a:tcPr marL="152400" marR="127000" marT="127000" marB="101600">
                    <a:solidFill>
                      <a:srgbClr val="FFFFFF"/>
                    </a:solidFill>
                  </a:tcPr>
                </a:tc>
                <a:tc>
                  <a:txBody>
                    <a:bodyPr/>
                    <a:lstStyle/>
                    <a:p>
                      <a:r>
                        <a:rPr lang="en-US" sz="1800" b="0">
                          <a:solidFill>
                            <a:srgbClr val="173C43"/>
                          </a:solidFill>
                          <a:latin typeface="Aptos" panose="020B0004020202020204" pitchFamily="34" charset="0"/>
                        </a:rPr>
                        <a:t>Distinct, active ministries</a:t>
                      </a:r>
                    </a:p>
                  </a:txBody>
                  <a:tcPr marL="152400" marR="127000" marT="127000" marB="101600">
                    <a:solidFill>
                      <a:srgbClr val="FFFFFF"/>
                    </a:solidFill>
                  </a:tcPr>
                </a:tc>
                <a:extLst>
                  <a:ext uri="{0D108BD9-81ED-4DB2-BD59-A6C34878D82A}">
                    <a16:rowId xmlns:a16="http://schemas.microsoft.com/office/drawing/2014/main" val="987942780"/>
                  </a:ext>
                </a:extLst>
              </a:tr>
              <a:tr h="584200">
                <a:tc>
                  <a:txBody>
                    <a:bodyPr/>
                    <a:lstStyle/>
                    <a:p>
                      <a:r>
                        <a:rPr lang="en-US" sz="1800" b="0">
                          <a:solidFill>
                            <a:srgbClr val="173C43"/>
                          </a:solidFill>
                          <a:latin typeface="Aptos" panose="020B0004020202020204" pitchFamily="34" charset="0"/>
                        </a:rPr>
                        <a:t>Holy Cross</a:t>
                      </a:r>
                    </a:p>
                  </a:txBody>
                  <a:tcPr marL="152400" marR="127000" marT="127000" marB="101600">
                    <a:solidFill>
                      <a:srgbClr val="FFFFFF"/>
                    </a:solidFill>
                  </a:tcPr>
                </a:tc>
                <a:tc>
                  <a:txBody>
                    <a:bodyPr/>
                    <a:lstStyle/>
                    <a:p>
                      <a:r>
                        <a:rPr lang="en-US" sz="1800" b="0">
                          <a:solidFill>
                            <a:srgbClr val="173C43"/>
                          </a:solidFill>
                          <a:latin typeface="Aptos" panose="020B0004020202020204" pitchFamily="34" charset="0"/>
                        </a:rPr>
                        <a:t>Neighbor evidence</a:t>
                      </a:r>
                    </a:p>
                  </a:txBody>
                  <a:tcPr marL="152400" marR="127000" marT="127000" marB="101600">
                    <a:solidFill>
                      <a:srgbClr val="FFFFFF"/>
                    </a:solidFill>
                  </a:tcPr>
                </a:tc>
                <a:tc>
                  <a:txBody>
                    <a:bodyPr/>
                    <a:lstStyle/>
                    <a:p>
                      <a:r>
                        <a:rPr lang="en-US" sz="1800" b="0">
                          <a:solidFill>
                            <a:srgbClr val="173C43"/>
                          </a:solidFill>
                          <a:latin typeface="Aptos" panose="020B0004020202020204" pitchFamily="34" charset="0"/>
                        </a:rPr>
                        <a:t>Equivalent ministry names</a:t>
                      </a:r>
                    </a:p>
                  </a:txBody>
                  <a:tcPr marL="152400" marR="127000" marT="127000" marB="101600">
                    <a:solidFill>
                      <a:srgbClr val="FFFFFF"/>
                    </a:solidFill>
                  </a:tcPr>
                </a:tc>
                <a:extLst>
                  <a:ext uri="{0D108BD9-81ED-4DB2-BD59-A6C34878D82A}">
                    <a16:rowId xmlns:a16="http://schemas.microsoft.com/office/drawing/2014/main" val="3552949971"/>
                  </a:ext>
                </a:extLst>
              </a:tr>
              <a:tr h="584200">
                <a:tc>
                  <a:txBody>
                    <a:bodyPr/>
                    <a:lstStyle/>
                    <a:p>
                      <a:r>
                        <a:rPr lang="en-US" sz="1800" b="0">
                          <a:solidFill>
                            <a:srgbClr val="173C43"/>
                          </a:solidFill>
                          <a:latin typeface="Aptos" panose="020B0004020202020204" pitchFamily="34" charset="0"/>
                        </a:rPr>
                        <a:t>Christ the King</a:t>
                      </a:r>
                    </a:p>
                  </a:txBody>
                  <a:tcPr marL="152400" marR="127000" marT="127000" marB="101600">
                    <a:solidFill>
                      <a:srgbClr val="FFFFFF"/>
                    </a:solidFill>
                  </a:tcPr>
                </a:tc>
                <a:tc>
                  <a:txBody>
                    <a:bodyPr/>
                    <a:lstStyle/>
                    <a:p>
                      <a:r>
                        <a:rPr lang="en-US" sz="1800" b="0">
                          <a:solidFill>
                            <a:srgbClr val="173C43"/>
                          </a:solidFill>
                          <a:latin typeface="Aptos" panose="020B0004020202020204" pitchFamily="34" charset="0"/>
                        </a:rPr>
                        <a:t>Visible missing-data flags</a:t>
                      </a:r>
                    </a:p>
                  </a:txBody>
                  <a:tcPr marL="152400" marR="127000" marT="127000" marB="101600">
                    <a:solidFill>
                      <a:srgbClr val="FFFFFF"/>
                    </a:solidFill>
                  </a:tcPr>
                </a:tc>
                <a:tc>
                  <a:txBody>
                    <a:bodyPr/>
                    <a:lstStyle/>
                    <a:p>
                      <a:r>
                        <a:rPr lang="en-US" sz="1800" b="0">
                          <a:solidFill>
                            <a:srgbClr val="173C43"/>
                          </a:solidFill>
                          <a:latin typeface="Aptos" panose="020B0004020202020204" pitchFamily="34" charset="0"/>
                        </a:rPr>
                        <a:t>Discovery and peer inputs</a:t>
                      </a:r>
                    </a:p>
                  </a:txBody>
                  <a:tcPr marL="152400" marR="127000" marT="127000" marB="101600">
                    <a:solidFill>
                      <a:srgbClr val="FFFFFF"/>
                    </a:solidFill>
                  </a:tcPr>
                </a:tc>
                <a:extLst>
                  <a:ext uri="{0D108BD9-81ED-4DB2-BD59-A6C34878D82A}">
                    <a16:rowId xmlns:a16="http://schemas.microsoft.com/office/drawing/2014/main" val="316212798"/>
                  </a:ext>
                </a:extLst>
              </a:tr>
            </a:tbl>
          </a:graphicData>
        </a:graphic>
      </p:graphicFrame>
      <p:sp>
        <p:nvSpPr>
          <p:cNvPr id="6" name="TextBox 5">
            <a:extLst>
              <a:ext uri="{FF2B5EF4-FFF2-40B4-BE49-F238E27FC236}">
                <a16:creationId xmlns:a16="http://schemas.microsoft.com/office/drawing/2014/main" id="{5D6B376C-CE21-7086-107F-43484456E7C5}"/>
              </a:ext>
            </a:extLst>
          </p:cNvPr>
          <p:cNvSpPr txBox="1"/>
          <p:nvPr/>
        </p:nvSpPr>
        <p:spPr>
          <a:xfrm>
            <a:off x="609600" y="5168900"/>
            <a:ext cx="10972800" cy="738664"/>
          </a:xfrm>
          <a:prstGeom prst="rect">
            <a:avLst/>
          </a:prstGeom>
          <a:noFill/>
        </p:spPr>
        <p:txBody>
          <a:bodyPr vert="horz" wrap="square" lIns="0" tIns="0" rIns="0" bIns="0" rtlCol="0">
            <a:spAutoFit/>
          </a:bodyPr>
          <a:lstStyle/>
          <a:p>
            <a:r>
              <a:rPr lang="en-US" sz="2400" b="1">
                <a:solidFill>
                  <a:srgbClr val="173C43"/>
                </a:solidFill>
                <a:latin typeface="Aptos" panose="020B0004020202020204" pitchFamily="34" charset="0"/>
              </a:rPr>
              <a:t>An additional label is a lead for review. Evidence must establish whether a ministry is truly absent.</a:t>
            </a:r>
          </a:p>
        </p:txBody>
      </p:sp>
    </p:spTree>
    <p:extLst>
      <p:ext uri="{BB962C8B-B14F-4D97-AF65-F5344CB8AC3E}">
        <p14:creationId xmlns:p14="http://schemas.microsoft.com/office/powerpoint/2010/main" val="33913648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0FDE7C-D826-837C-FA76-77EAB320AAC8}"/>
              </a:ext>
            </a:extLst>
          </p:cNvPr>
          <p:cNvSpPr txBox="1"/>
          <p:nvPr/>
        </p:nvSpPr>
        <p:spPr>
          <a:xfrm>
            <a:off x="609600" y="355600"/>
            <a:ext cx="10668000" cy="200055"/>
          </a:xfrm>
          <a:prstGeom prst="rect">
            <a:avLst/>
          </a:prstGeom>
          <a:noFill/>
        </p:spPr>
        <p:txBody>
          <a:bodyPr vert="horz" wrap="square" lIns="0" tIns="0" rIns="0" bIns="0" rtlCol="0">
            <a:spAutoFit/>
          </a:bodyPr>
          <a:lstStyle/>
          <a:p>
            <a:r>
              <a:rPr lang="en-US" sz="1300" b="1">
                <a:solidFill>
                  <a:srgbClr val="16776C"/>
                </a:solidFill>
                <a:latin typeface="Aptos" panose="020B0004020202020204" pitchFamily="34" charset="0"/>
              </a:rPr>
              <a:t>03  FINAL VERSION DISCUSSION</a:t>
            </a:r>
          </a:p>
        </p:txBody>
      </p:sp>
      <p:sp>
        <p:nvSpPr>
          <p:cNvPr id="3" name="TextBox 2">
            <a:extLst>
              <a:ext uri="{FF2B5EF4-FFF2-40B4-BE49-F238E27FC236}">
                <a16:creationId xmlns:a16="http://schemas.microsoft.com/office/drawing/2014/main" id="{7F68137E-F562-06F3-5B31-402319AF80F8}"/>
              </a:ext>
            </a:extLst>
          </p:cNvPr>
          <p:cNvSpPr txBox="1"/>
          <p:nvPr/>
        </p:nvSpPr>
        <p:spPr>
          <a:xfrm>
            <a:off x="609600" y="838200"/>
            <a:ext cx="10972800" cy="492443"/>
          </a:xfrm>
          <a:prstGeom prst="rect">
            <a:avLst/>
          </a:prstGeom>
          <a:noFill/>
        </p:spPr>
        <p:txBody>
          <a:bodyPr vert="horz" wrap="square" lIns="0" tIns="0" rIns="0" bIns="0" rtlCol="0">
            <a:spAutoFit/>
          </a:bodyPr>
          <a:lstStyle/>
          <a:p>
            <a:r>
              <a:rPr lang="en-US" sz="3200" b="1">
                <a:solidFill>
                  <a:srgbClr val="173C43"/>
                </a:solidFill>
                <a:latin typeface="Aptos" panose="020B0004020202020204" pitchFamily="34" charset="0"/>
              </a:rPr>
              <a:t>Proposed improvements for the final version</a:t>
            </a:r>
          </a:p>
        </p:txBody>
      </p:sp>
      <p:sp>
        <p:nvSpPr>
          <p:cNvPr id="4" name="TextBox 3">
            <a:extLst>
              <a:ext uri="{FF2B5EF4-FFF2-40B4-BE49-F238E27FC236}">
                <a16:creationId xmlns:a16="http://schemas.microsoft.com/office/drawing/2014/main" id="{64413B97-5C69-5C12-665A-0D801C3F104C}"/>
              </a:ext>
            </a:extLst>
          </p:cNvPr>
          <p:cNvSpPr txBox="1"/>
          <p:nvPr/>
        </p:nvSpPr>
        <p:spPr>
          <a:xfrm>
            <a:off x="11049000" y="6350000"/>
            <a:ext cx="533400" cy="184666"/>
          </a:xfrm>
          <a:prstGeom prst="rect">
            <a:avLst/>
          </a:prstGeom>
          <a:noFill/>
        </p:spPr>
        <p:txBody>
          <a:bodyPr vert="horz" wrap="square" lIns="0" tIns="0" rIns="0" bIns="0" rtlCol="0">
            <a:spAutoFit/>
          </a:bodyPr>
          <a:lstStyle/>
          <a:p>
            <a:r>
              <a:rPr lang="en-US" sz="1200">
                <a:solidFill>
                  <a:srgbClr val="536367"/>
                </a:solidFill>
                <a:latin typeface="Aptos" panose="020B0004020202020204" pitchFamily="34" charset="0"/>
              </a:rPr>
              <a:t>09</a:t>
            </a:r>
          </a:p>
        </p:txBody>
      </p:sp>
      <p:sp>
        <p:nvSpPr>
          <p:cNvPr id="5" name="TextBox 4">
            <a:extLst>
              <a:ext uri="{FF2B5EF4-FFF2-40B4-BE49-F238E27FC236}">
                <a16:creationId xmlns:a16="http://schemas.microsoft.com/office/drawing/2014/main" id="{BDBE0BEA-6FE6-EFDF-B684-23C7DF7E59F2}"/>
              </a:ext>
            </a:extLst>
          </p:cNvPr>
          <p:cNvSpPr txBox="1"/>
          <p:nvPr/>
        </p:nvSpPr>
        <p:spPr>
          <a:xfrm>
            <a:off x="609600" y="2108200"/>
            <a:ext cx="10668000" cy="353943"/>
          </a:xfrm>
          <a:prstGeom prst="rect">
            <a:avLst/>
          </a:prstGeom>
          <a:noFill/>
        </p:spPr>
        <p:txBody>
          <a:bodyPr vert="horz" wrap="square" lIns="0" tIns="0" rIns="0" bIns="0" rtlCol="0">
            <a:spAutoFit/>
          </a:bodyPr>
          <a:lstStyle/>
          <a:p>
            <a:r>
              <a:rPr lang="en-US" sz="2300" b="1">
                <a:solidFill>
                  <a:srgbClr val="16776C"/>
                </a:solidFill>
                <a:latin typeface="Aptos" panose="020B0004020202020204" pitchFamily="34" charset="0"/>
              </a:rPr>
              <a:t>More reliable ministry comparisons</a:t>
            </a:r>
          </a:p>
        </p:txBody>
      </p:sp>
      <p:sp>
        <p:nvSpPr>
          <p:cNvPr id="6" name="TextBox 5">
            <a:extLst>
              <a:ext uri="{FF2B5EF4-FFF2-40B4-BE49-F238E27FC236}">
                <a16:creationId xmlns:a16="http://schemas.microsoft.com/office/drawing/2014/main" id="{B5CC1F3A-3A6C-79B9-E9C4-027D786E3A10}"/>
              </a:ext>
            </a:extLst>
          </p:cNvPr>
          <p:cNvSpPr txBox="1"/>
          <p:nvPr/>
        </p:nvSpPr>
        <p:spPr>
          <a:xfrm>
            <a:off x="609600" y="2641600"/>
            <a:ext cx="10668000" cy="646331"/>
          </a:xfrm>
          <a:prstGeom prst="rect">
            <a:avLst/>
          </a:prstGeom>
          <a:noFill/>
        </p:spPr>
        <p:txBody>
          <a:bodyPr vert="horz" wrap="square" lIns="0" tIns="0" rIns="0" bIns="0" rtlCol="0">
            <a:spAutoFit/>
          </a:bodyPr>
          <a:lstStyle/>
          <a:p>
            <a:r>
              <a:rPr lang="en-US" sz="2100">
                <a:solidFill>
                  <a:srgbClr val="173C43"/>
                </a:solidFill>
                <a:latin typeface="Aptos" panose="020B0004020202020204" pitchFamily="34" charset="0"/>
              </a:rPr>
              <a:t>Use reviewed canonical names. Separate active ministries from general category pages and sacramental information.</a:t>
            </a:r>
          </a:p>
        </p:txBody>
      </p:sp>
      <p:sp>
        <p:nvSpPr>
          <p:cNvPr id="7" name="TextBox 6">
            <a:extLst>
              <a:ext uri="{FF2B5EF4-FFF2-40B4-BE49-F238E27FC236}">
                <a16:creationId xmlns:a16="http://schemas.microsoft.com/office/drawing/2014/main" id="{42596CD9-6CFD-DE0B-5694-D792E2FF61C9}"/>
              </a:ext>
            </a:extLst>
          </p:cNvPr>
          <p:cNvSpPr txBox="1"/>
          <p:nvPr/>
        </p:nvSpPr>
        <p:spPr>
          <a:xfrm>
            <a:off x="609600" y="3556000"/>
            <a:ext cx="10668000" cy="353943"/>
          </a:xfrm>
          <a:prstGeom prst="rect">
            <a:avLst/>
          </a:prstGeom>
          <a:noFill/>
        </p:spPr>
        <p:txBody>
          <a:bodyPr vert="horz" wrap="square" lIns="0" tIns="0" rIns="0" bIns="0" rtlCol="0">
            <a:spAutoFit/>
          </a:bodyPr>
          <a:lstStyle/>
          <a:p>
            <a:r>
              <a:rPr lang="en-US" sz="2300" b="1">
                <a:solidFill>
                  <a:srgbClr val="16776C"/>
                </a:solidFill>
                <a:latin typeface="Aptos" panose="020B0004020202020204" pitchFamily="34" charset="0"/>
              </a:rPr>
              <a:t>Clearer coverage and evidence</a:t>
            </a:r>
          </a:p>
        </p:txBody>
      </p:sp>
      <p:sp>
        <p:nvSpPr>
          <p:cNvPr id="8" name="TextBox 7">
            <a:extLst>
              <a:ext uri="{FF2B5EF4-FFF2-40B4-BE49-F238E27FC236}">
                <a16:creationId xmlns:a16="http://schemas.microsoft.com/office/drawing/2014/main" id="{A37E16CB-D42E-1EA6-1FC0-5EB57CB8F4B4}"/>
              </a:ext>
            </a:extLst>
          </p:cNvPr>
          <p:cNvSpPr txBox="1"/>
          <p:nvPr/>
        </p:nvSpPr>
        <p:spPr>
          <a:xfrm>
            <a:off x="609600" y="4089400"/>
            <a:ext cx="10668000" cy="646331"/>
          </a:xfrm>
          <a:prstGeom prst="rect">
            <a:avLst/>
          </a:prstGeom>
          <a:noFill/>
        </p:spPr>
        <p:txBody>
          <a:bodyPr vert="horz" wrap="square" lIns="0" tIns="0" rIns="0" bIns="0" rtlCol="0">
            <a:spAutoFit/>
          </a:bodyPr>
          <a:lstStyle/>
          <a:p>
            <a:r>
              <a:rPr lang="en-US" sz="2100">
                <a:solidFill>
                  <a:srgbClr val="173C43"/>
                </a:solidFill>
                <a:latin typeface="Aptos" panose="020B0004020202020204" pitchFamily="34" charset="0"/>
              </a:rPr>
              <a:t>Show discovery failures and extraction status separately. Keep source links and surface uncertain results first.</a:t>
            </a:r>
          </a:p>
        </p:txBody>
      </p:sp>
      <p:sp>
        <p:nvSpPr>
          <p:cNvPr id="9" name="TextBox 8">
            <a:extLst>
              <a:ext uri="{FF2B5EF4-FFF2-40B4-BE49-F238E27FC236}">
                <a16:creationId xmlns:a16="http://schemas.microsoft.com/office/drawing/2014/main" id="{9508504B-B156-7499-7166-4B49EC60D9E9}"/>
              </a:ext>
            </a:extLst>
          </p:cNvPr>
          <p:cNvSpPr txBox="1"/>
          <p:nvPr/>
        </p:nvSpPr>
        <p:spPr>
          <a:xfrm>
            <a:off x="609600" y="5003800"/>
            <a:ext cx="10668000" cy="353943"/>
          </a:xfrm>
          <a:prstGeom prst="rect">
            <a:avLst/>
          </a:prstGeom>
          <a:noFill/>
        </p:spPr>
        <p:txBody>
          <a:bodyPr vert="horz" wrap="square" lIns="0" tIns="0" rIns="0" bIns="0" rtlCol="0">
            <a:spAutoFit/>
          </a:bodyPr>
          <a:lstStyle/>
          <a:p>
            <a:r>
              <a:rPr lang="en-US" sz="2300" b="1">
                <a:solidFill>
                  <a:srgbClr val="16776C"/>
                </a:solidFill>
                <a:latin typeface="Aptos" panose="020B0004020202020204" pitchFamily="34" charset="0"/>
              </a:rPr>
              <a:t>More meaningful peer selection</a:t>
            </a:r>
          </a:p>
        </p:txBody>
      </p:sp>
      <p:sp>
        <p:nvSpPr>
          <p:cNvPr id="10" name="TextBox 9">
            <a:extLst>
              <a:ext uri="{FF2B5EF4-FFF2-40B4-BE49-F238E27FC236}">
                <a16:creationId xmlns:a16="http://schemas.microsoft.com/office/drawing/2014/main" id="{2CBAD4A5-E342-93F5-7963-D53AAA615D1F}"/>
              </a:ext>
            </a:extLst>
          </p:cNvPr>
          <p:cNvSpPr txBox="1"/>
          <p:nvPr/>
        </p:nvSpPr>
        <p:spPr>
          <a:xfrm>
            <a:off x="609600" y="5537200"/>
            <a:ext cx="10668000" cy="646331"/>
          </a:xfrm>
          <a:prstGeom prst="rect">
            <a:avLst/>
          </a:prstGeom>
          <a:noFill/>
        </p:spPr>
        <p:txBody>
          <a:bodyPr vert="horz" wrap="square" lIns="0" tIns="0" rIns="0" bIns="0" rtlCol="0">
            <a:spAutoFit/>
          </a:bodyPr>
          <a:lstStyle/>
          <a:p>
            <a:r>
              <a:rPr lang="en-US" sz="2100">
                <a:solidFill>
                  <a:srgbClr val="173C43"/>
                </a:solidFill>
                <a:latin typeface="Aptos" panose="020B0004020202020204" pitchFamily="34" charset="0"/>
              </a:rPr>
              <a:t>Evaluate parish size and language data if available. Explain why each peer matches and allow reviewer feedback.</a:t>
            </a:r>
          </a:p>
        </p:txBody>
      </p:sp>
    </p:spTree>
    <p:extLst>
      <p:ext uri="{BB962C8B-B14F-4D97-AF65-F5344CB8AC3E}">
        <p14:creationId xmlns:p14="http://schemas.microsoft.com/office/powerpoint/2010/main" val="25985466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32F3CF-18D4-706A-ECEB-A70F3787AB3F}"/>
              </a:ext>
            </a:extLst>
          </p:cNvPr>
          <p:cNvSpPr txBox="1"/>
          <p:nvPr/>
        </p:nvSpPr>
        <p:spPr>
          <a:xfrm>
            <a:off x="609600" y="355600"/>
            <a:ext cx="10668000" cy="200055"/>
          </a:xfrm>
          <a:prstGeom prst="rect">
            <a:avLst/>
          </a:prstGeom>
          <a:noFill/>
        </p:spPr>
        <p:txBody>
          <a:bodyPr vert="horz" wrap="square" lIns="0" tIns="0" rIns="0" bIns="0" rtlCol="0">
            <a:spAutoFit/>
          </a:bodyPr>
          <a:lstStyle/>
          <a:p>
            <a:r>
              <a:rPr lang="en-US" sz="1300" b="1">
                <a:solidFill>
                  <a:srgbClr val="16776C"/>
                </a:solidFill>
                <a:latin typeface="Aptos" panose="020B0004020202020204" pitchFamily="34" charset="0"/>
              </a:rPr>
              <a:t>03  FINAL VERSION DISCUSSION</a:t>
            </a:r>
          </a:p>
        </p:txBody>
      </p:sp>
      <p:sp>
        <p:nvSpPr>
          <p:cNvPr id="3" name="TextBox 2">
            <a:extLst>
              <a:ext uri="{FF2B5EF4-FFF2-40B4-BE49-F238E27FC236}">
                <a16:creationId xmlns:a16="http://schemas.microsoft.com/office/drawing/2014/main" id="{5542389F-6BA2-3B57-DB80-D6C196341F46}"/>
              </a:ext>
            </a:extLst>
          </p:cNvPr>
          <p:cNvSpPr txBox="1"/>
          <p:nvPr/>
        </p:nvSpPr>
        <p:spPr>
          <a:xfrm>
            <a:off x="609600" y="838200"/>
            <a:ext cx="10972800" cy="492443"/>
          </a:xfrm>
          <a:prstGeom prst="rect">
            <a:avLst/>
          </a:prstGeom>
          <a:noFill/>
        </p:spPr>
        <p:txBody>
          <a:bodyPr vert="horz" wrap="square" lIns="0" tIns="0" rIns="0" bIns="0" rtlCol="0">
            <a:spAutoFit/>
          </a:bodyPr>
          <a:lstStyle/>
          <a:p>
            <a:r>
              <a:rPr lang="en-US" sz="3200" b="1">
                <a:solidFill>
                  <a:srgbClr val="173C43"/>
                </a:solidFill>
                <a:latin typeface="Aptos" panose="020B0004020202020204" pitchFamily="34" charset="0"/>
              </a:rPr>
              <a:t>Proposed validation before final delivery</a:t>
            </a:r>
          </a:p>
        </p:txBody>
      </p:sp>
      <p:sp>
        <p:nvSpPr>
          <p:cNvPr id="4" name="TextBox 3">
            <a:extLst>
              <a:ext uri="{FF2B5EF4-FFF2-40B4-BE49-F238E27FC236}">
                <a16:creationId xmlns:a16="http://schemas.microsoft.com/office/drawing/2014/main" id="{F73DE0D1-955D-20D1-D644-93E16ED74481}"/>
              </a:ext>
            </a:extLst>
          </p:cNvPr>
          <p:cNvSpPr txBox="1"/>
          <p:nvPr/>
        </p:nvSpPr>
        <p:spPr>
          <a:xfrm>
            <a:off x="11049000" y="6350000"/>
            <a:ext cx="533400" cy="184666"/>
          </a:xfrm>
          <a:prstGeom prst="rect">
            <a:avLst/>
          </a:prstGeom>
          <a:noFill/>
        </p:spPr>
        <p:txBody>
          <a:bodyPr vert="horz" wrap="square" lIns="0" tIns="0" rIns="0" bIns="0" rtlCol="0">
            <a:spAutoFit/>
          </a:bodyPr>
          <a:lstStyle/>
          <a:p>
            <a:r>
              <a:rPr lang="en-US" sz="1200">
                <a:solidFill>
                  <a:srgbClr val="536367"/>
                </a:solidFill>
                <a:latin typeface="Aptos" panose="020B0004020202020204" pitchFamily="34" charset="0"/>
              </a:rPr>
              <a:t>10</a:t>
            </a:r>
          </a:p>
        </p:txBody>
      </p:sp>
      <p:graphicFrame>
        <p:nvGraphicFramePr>
          <p:cNvPr id="5" name="Table 4">
            <a:extLst>
              <a:ext uri="{FF2B5EF4-FFF2-40B4-BE49-F238E27FC236}">
                <a16:creationId xmlns:a16="http://schemas.microsoft.com/office/drawing/2014/main" id="{5EF8634D-F4A4-1899-E1B2-299E6BD28A6D}"/>
              </a:ext>
            </a:extLst>
          </p:cNvPr>
          <p:cNvGraphicFramePr>
            <a:graphicFrameLocks noGrp="1"/>
          </p:cNvGraphicFramePr>
          <p:nvPr>
            <p:extLst>
              <p:ext uri="{D42A27DB-BD31-4B8C-83A1-F6EECF244321}">
                <p14:modId xmlns:p14="http://schemas.microsoft.com/office/powerpoint/2010/main" val="2250939804"/>
              </p:ext>
            </p:extLst>
          </p:nvPr>
        </p:nvGraphicFramePr>
        <p:xfrm>
          <a:off x="609600" y="2095500"/>
          <a:ext cx="10972800" cy="2921000"/>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1709701605"/>
                    </a:ext>
                  </a:extLst>
                </a:gridCol>
                <a:gridCol w="8051800">
                  <a:extLst>
                    <a:ext uri="{9D8B030D-6E8A-4147-A177-3AD203B41FA5}">
                      <a16:colId xmlns:a16="http://schemas.microsoft.com/office/drawing/2014/main" val="2406008870"/>
                    </a:ext>
                  </a:extLst>
                </a:gridCol>
              </a:tblGrid>
              <a:tr h="584200">
                <a:tc>
                  <a:txBody>
                    <a:bodyPr/>
                    <a:lstStyle/>
                    <a:p>
                      <a:r>
                        <a:rPr lang="en-US" sz="1800" b="1">
                          <a:solidFill>
                            <a:srgbClr val="FFFFFF"/>
                          </a:solidFill>
                          <a:latin typeface="Aptos" panose="020B0004020202020204" pitchFamily="34" charset="0"/>
                        </a:rPr>
                        <a:t>Area</a:t>
                      </a:r>
                    </a:p>
                  </a:txBody>
                  <a:tcPr marL="152400" marR="127000" marT="127000" marB="101600">
                    <a:solidFill>
                      <a:srgbClr val="173C43"/>
                    </a:solidFill>
                  </a:tcPr>
                </a:tc>
                <a:tc>
                  <a:txBody>
                    <a:bodyPr/>
                    <a:lstStyle/>
                    <a:p>
                      <a:r>
                        <a:rPr lang="en-US" sz="1800" b="1">
                          <a:solidFill>
                            <a:srgbClr val="FFFFFF"/>
                          </a:solidFill>
                          <a:latin typeface="Aptos" panose="020B0004020202020204" pitchFamily="34" charset="0"/>
                        </a:rPr>
                        <a:t>Proposed check</a:t>
                      </a:r>
                    </a:p>
                  </a:txBody>
                  <a:tcPr marL="152400" marR="127000" marT="127000" marB="101600">
                    <a:solidFill>
                      <a:srgbClr val="173C43"/>
                    </a:solidFill>
                  </a:tcPr>
                </a:tc>
                <a:extLst>
                  <a:ext uri="{0D108BD9-81ED-4DB2-BD59-A6C34878D82A}">
                    <a16:rowId xmlns:a16="http://schemas.microsoft.com/office/drawing/2014/main" val="1145143104"/>
                  </a:ext>
                </a:extLst>
              </a:tr>
              <a:tr h="584200">
                <a:tc>
                  <a:txBody>
                    <a:bodyPr/>
                    <a:lstStyle/>
                    <a:p>
                      <a:r>
                        <a:rPr lang="en-US" sz="1800" b="0">
                          <a:solidFill>
                            <a:srgbClr val="173C43"/>
                          </a:solidFill>
                          <a:latin typeface="Aptos" panose="020B0004020202020204" pitchFamily="34" charset="0"/>
                        </a:rPr>
                        <a:t>Ministry extraction</a:t>
                      </a:r>
                    </a:p>
                  </a:txBody>
                  <a:tcPr marL="152400" marR="127000" marT="127000" marB="101600">
                    <a:solidFill>
                      <a:srgbClr val="FFFFFF"/>
                    </a:solidFill>
                  </a:tcPr>
                </a:tc>
                <a:tc>
                  <a:txBody>
                    <a:bodyPr/>
                    <a:lstStyle/>
                    <a:p>
                      <a:r>
                        <a:rPr lang="en-US" sz="1800" b="0">
                          <a:solidFill>
                            <a:srgbClr val="173C43"/>
                          </a:solidFill>
                          <a:latin typeface="Aptos" panose="020B0004020202020204" pitchFamily="34" charset="0"/>
                        </a:rPr>
                        <a:t>Manually label a varied sample and measure precision / recall</a:t>
                      </a:r>
                    </a:p>
                  </a:txBody>
                  <a:tcPr marL="152400" marR="127000" marT="127000" marB="101600">
                    <a:solidFill>
                      <a:srgbClr val="FFFFFF"/>
                    </a:solidFill>
                  </a:tcPr>
                </a:tc>
                <a:extLst>
                  <a:ext uri="{0D108BD9-81ED-4DB2-BD59-A6C34878D82A}">
                    <a16:rowId xmlns:a16="http://schemas.microsoft.com/office/drawing/2014/main" val="2306525413"/>
                  </a:ext>
                </a:extLst>
              </a:tr>
              <a:tr h="584200">
                <a:tc>
                  <a:txBody>
                    <a:bodyPr/>
                    <a:lstStyle/>
                    <a:p>
                      <a:r>
                        <a:rPr lang="en-US" sz="1800" b="0">
                          <a:solidFill>
                            <a:srgbClr val="173C43"/>
                          </a:solidFill>
                          <a:latin typeface="Aptos" panose="020B0004020202020204" pitchFamily="34" charset="0"/>
                        </a:rPr>
                        <a:t>Apparent gaps</a:t>
                      </a:r>
                    </a:p>
                  </a:txBody>
                  <a:tcPr marL="152400" marR="127000" marT="127000" marB="101600">
                    <a:solidFill>
                      <a:srgbClr val="FFFFFF"/>
                    </a:solidFill>
                  </a:tcPr>
                </a:tc>
                <a:tc>
                  <a:txBody>
                    <a:bodyPr/>
                    <a:lstStyle/>
                    <a:p>
                      <a:r>
                        <a:rPr lang="en-US" sz="1800" b="0">
                          <a:solidFill>
                            <a:srgbClr val="173C43"/>
                          </a:solidFill>
                          <a:latin typeface="Aptos" panose="020B0004020202020204" pitchFamily="34" charset="0"/>
                        </a:rPr>
                        <a:t>Review false gaps caused by synonyms or missing pages</a:t>
                      </a:r>
                    </a:p>
                  </a:txBody>
                  <a:tcPr marL="152400" marR="127000" marT="127000" marB="101600">
                    <a:solidFill>
                      <a:srgbClr val="FFFFFF"/>
                    </a:solidFill>
                  </a:tcPr>
                </a:tc>
                <a:extLst>
                  <a:ext uri="{0D108BD9-81ED-4DB2-BD59-A6C34878D82A}">
                    <a16:rowId xmlns:a16="http://schemas.microsoft.com/office/drawing/2014/main" val="907165605"/>
                  </a:ext>
                </a:extLst>
              </a:tr>
              <a:tr h="584200">
                <a:tc>
                  <a:txBody>
                    <a:bodyPr/>
                    <a:lstStyle/>
                    <a:p>
                      <a:r>
                        <a:rPr lang="en-US" sz="1800" b="0">
                          <a:solidFill>
                            <a:srgbClr val="173C43"/>
                          </a:solidFill>
                          <a:latin typeface="Aptos" panose="020B0004020202020204" pitchFamily="34" charset="0"/>
                        </a:rPr>
                        <a:t>Peer relevance</a:t>
                      </a:r>
                    </a:p>
                  </a:txBody>
                  <a:tcPr marL="152400" marR="127000" marT="127000" marB="101600">
                    <a:solidFill>
                      <a:srgbClr val="FFFFFF"/>
                    </a:solidFill>
                  </a:tcPr>
                </a:tc>
                <a:tc>
                  <a:txBody>
                    <a:bodyPr/>
                    <a:lstStyle/>
                    <a:p>
                      <a:r>
                        <a:rPr lang="en-US" sz="1800" b="0">
                          <a:solidFill>
                            <a:srgbClr val="173C43"/>
                          </a:solidFill>
                          <a:latin typeface="Aptos" panose="020B0004020202020204" pitchFamily="34" charset="0"/>
                        </a:rPr>
                        <a:t>Ask parish reviewers to assess matches and explanations</a:t>
                      </a:r>
                    </a:p>
                  </a:txBody>
                  <a:tcPr marL="152400" marR="127000" marT="127000" marB="101600">
                    <a:solidFill>
                      <a:srgbClr val="FFFFFF"/>
                    </a:solidFill>
                  </a:tcPr>
                </a:tc>
                <a:extLst>
                  <a:ext uri="{0D108BD9-81ED-4DB2-BD59-A6C34878D82A}">
                    <a16:rowId xmlns:a16="http://schemas.microsoft.com/office/drawing/2014/main" val="2868264485"/>
                  </a:ext>
                </a:extLst>
              </a:tr>
              <a:tr h="584200">
                <a:tc>
                  <a:txBody>
                    <a:bodyPr/>
                    <a:lstStyle/>
                    <a:p>
                      <a:r>
                        <a:rPr lang="en-US" sz="1800" b="0">
                          <a:solidFill>
                            <a:srgbClr val="173C43"/>
                          </a:solidFill>
                          <a:latin typeface="Aptos" panose="020B0004020202020204" pitchFamily="34" charset="0"/>
                        </a:rPr>
                        <a:t>Report usability</a:t>
                      </a:r>
                    </a:p>
                  </a:txBody>
                  <a:tcPr marL="152400" marR="127000" marT="127000" marB="101600">
                    <a:solidFill>
                      <a:srgbClr val="FFFFFF"/>
                    </a:solidFill>
                  </a:tcPr>
                </a:tc>
                <a:tc>
                  <a:txBody>
                    <a:bodyPr/>
                    <a:lstStyle/>
                    <a:p>
                      <a:r>
                        <a:rPr lang="en-US" sz="1800" b="0">
                          <a:solidFill>
                            <a:srgbClr val="173C43"/>
                          </a:solidFill>
                          <a:latin typeface="Aptos" panose="020B0004020202020204" pitchFamily="34" charset="0"/>
                        </a:rPr>
                        <a:t>Test whether readers can verify a finding from its sources</a:t>
                      </a:r>
                    </a:p>
                  </a:txBody>
                  <a:tcPr marL="152400" marR="127000" marT="127000" marB="101600">
                    <a:solidFill>
                      <a:srgbClr val="FFFFFF"/>
                    </a:solidFill>
                  </a:tcPr>
                </a:tc>
                <a:extLst>
                  <a:ext uri="{0D108BD9-81ED-4DB2-BD59-A6C34878D82A}">
                    <a16:rowId xmlns:a16="http://schemas.microsoft.com/office/drawing/2014/main" val="3400392063"/>
                  </a:ext>
                </a:extLst>
              </a:tr>
            </a:tbl>
          </a:graphicData>
        </a:graphic>
      </p:graphicFrame>
      <p:sp>
        <p:nvSpPr>
          <p:cNvPr id="6" name="TextBox 5">
            <a:extLst>
              <a:ext uri="{FF2B5EF4-FFF2-40B4-BE49-F238E27FC236}">
                <a16:creationId xmlns:a16="http://schemas.microsoft.com/office/drawing/2014/main" id="{2952AA38-F8B2-3329-0389-A897E708D90D}"/>
              </a:ext>
            </a:extLst>
          </p:cNvPr>
          <p:cNvSpPr txBox="1"/>
          <p:nvPr/>
        </p:nvSpPr>
        <p:spPr>
          <a:xfrm>
            <a:off x="609600" y="5740400"/>
            <a:ext cx="10972800" cy="307777"/>
          </a:xfrm>
          <a:prstGeom prst="rect">
            <a:avLst/>
          </a:prstGeom>
          <a:noFill/>
        </p:spPr>
        <p:txBody>
          <a:bodyPr vert="horz" wrap="square" lIns="0" tIns="0" rIns="0" bIns="0" rtlCol="0">
            <a:spAutoFit/>
          </a:bodyPr>
          <a:lstStyle/>
          <a:p>
            <a:r>
              <a:rPr lang="en-US" sz="2000">
                <a:solidFill>
                  <a:srgbClr val="536367"/>
                </a:solidFill>
                <a:latin typeface="Aptos" panose="020B0004020202020204" pitchFamily="34" charset="0"/>
              </a:rPr>
              <a:t>Acceptance targets remain to be agreed after the baseline review</a:t>
            </a:r>
          </a:p>
        </p:txBody>
      </p:sp>
    </p:spTree>
    <p:extLst>
      <p:ext uri="{BB962C8B-B14F-4D97-AF65-F5344CB8AC3E}">
        <p14:creationId xmlns:p14="http://schemas.microsoft.com/office/powerpoint/2010/main" val="828347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D6F9E1F-8289-3F1D-F63B-F11987900588}"/>
              </a:ext>
            </a:extLst>
          </p:cNvPr>
          <p:cNvSpPr txBox="1"/>
          <p:nvPr/>
        </p:nvSpPr>
        <p:spPr>
          <a:xfrm>
            <a:off x="609600" y="355600"/>
            <a:ext cx="10668000" cy="200055"/>
          </a:xfrm>
          <a:prstGeom prst="rect">
            <a:avLst/>
          </a:prstGeom>
          <a:noFill/>
        </p:spPr>
        <p:txBody>
          <a:bodyPr vert="horz" wrap="square" lIns="0" tIns="0" rIns="0" bIns="0" rtlCol="0">
            <a:spAutoFit/>
          </a:bodyPr>
          <a:lstStyle/>
          <a:p>
            <a:r>
              <a:rPr lang="en-US" sz="1300" b="1">
                <a:solidFill>
                  <a:srgbClr val="16776C"/>
                </a:solidFill>
                <a:latin typeface="Aptos" panose="020B0004020202020204" pitchFamily="34" charset="0"/>
              </a:rPr>
              <a:t>03  FINAL VERSION DISCUSSION</a:t>
            </a:r>
          </a:p>
        </p:txBody>
      </p:sp>
      <p:sp>
        <p:nvSpPr>
          <p:cNvPr id="3" name="TextBox 2">
            <a:extLst>
              <a:ext uri="{FF2B5EF4-FFF2-40B4-BE49-F238E27FC236}">
                <a16:creationId xmlns:a16="http://schemas.microsoft.com/office/drawing/2014/main" id="{472FBAB5-10EB-ACDD-2C1C-AB035C3CF9EF}"/>
              </a:ext>
            </a:extLst>
          </p:cNvPr>
          <p:cNvSpPr txBox="1"/>
          <p:nvPr/>
        </p:nvSpPr>
        <p:spPr>
          <a:xfrm>
            <a:off x="609600" y="838200"/>
            <a:ext cx="10972800" cy="492443"/>
          </a:xfrm>
          <a:prstGeom prst="rect">
            <a:avLst/>
          </a:prstGeom>
          <a:noFill/>
        </p:spPr>
        <p:txBody>
          <a:bodyPr vert="horz" wrap="square" lIns="0" tIns="0" rIns="0" bIns="0" rtlCol="0">
            <a:spAutoFit/>
          </a:bodyPr>
          <a:lstStyle/>
          <a:p>
            <a:r>
              <a:rPr lang="en-US" sz="3200" b="1">
                <a:solidFill>
                  <a:srgbClr val="173C43"/>
                </a:solidFill>
                <a:latin typeface="Aptos" panose="020B0004020202020204" pitchFamily="34" charset="0"/>
              </a:rPr>
              <a:t>Decisions for the final version</a:t>
            </a:r>
          </a:p>
        </p:txBody>
      </p:sp>
      <p:sp>
        <p:nvSpPr>
          <p:cNvPr id="4" name="TextBox 3">
            <a:extLst>
              <a:ext uri="{FF2B5EF4-FFF2-40B4-BE49-F238E27FC236}">
                <a16:creationId xmlns:a16="http://schemas.microsoft.com/office/drawing/2014/main" id="{359F71A3-8309-BD42-AD38-F0CA162DE022}"/>
              </a:ext>
            </a:extLst>
          </p:cNvPr>
          <p:cNvSpPr txBox="1"/>
          <p:nvPr/>
        </p:nvSpPr>
        <p:spPr>
          <a:xfrm>
            <a:off x="11049000" y="6350000"/>
            <a:ext cx="533400" cy="184666"/>
          </a:xfrm>
          <a:prstGeom prst="rect">
            <a:avLst/>
          </a:prstGeom>
          <a:noFill/>
        </p:spPr>
        <p:txBody>
          <a:bodyPr vert="horz" wrap="square" lIns="0" tIns="0" rIns="0" bIns="0" rtlCol="0">
            <a:spAutoFit/>
          </a:bodyPr>
          <a:lstStyle/>
          <a:p>
            <a:r>
              <a:rPr lang="en-US" sz="1200">
                <a:solidFill>
                  <a:srgbClr val="536367"/>
                </a:solidFill>
                <a:latin typeface="Aptos" panose="020B0004020202020204" pitchFamily="34" charset="0"/>
              </a:rPr>
              <a:t>11</a:t>
            </a:r>
          </a:p>
        </p:txBody>
      </p:sp>
      <p:sp>
        <p:nvSpPr>
          <p:cNvPr id="5" name="TextBox 4">
            <a:extLst>
              <a:ext uri="{FF2B5EF4-FFF2-40B4-BE49-F238E27FC236}">
                <a16:creationId xmlns:a16="http://schemas.microsoft.com/office/drawing/2014/main" id="{745B3584-0D5A-216F-91BC-4F019BD80AA9}"/>
              </a:ext>
            </a:extLst>
          </p:cNvPr>
          <p:cNvSpPr txBox="1"/>
          <p:nvPr/>
        </p:nvSpPr>
        <p:spPr>
          <a:xfrm>
            <a:off x="609600" y="2159000"/>
            <a:ext cx="10668000" cy="353943"/>
          </a:xfrm>
          <a:prstGeom prst="rect">
            <a:avLst/>
          </a:prstGeom>
          <a:noFill/>
        </p:spPr>
        <p:txBody>
          <a:bodyPr vert="horz" wrap="square" lIns="0" tIns="0" rIns="0" bIns="0" rtlCol="0">
            <a:spAutoFit/>
          </a:bodyPr>
          <a:lstStyle/>
          <a:p>
            <a:r>
              <a:rPr lang="en-US" sz="2300" b="1">
                <a:solidFill>
                  <a:srgbClr val="16776C"/>
                </a:solidFill>
                <a:latin typeface="Aptos" panose="020B0004020202020204" pitchFamily="34" charset="0"/>
              </a:rPr>
              <a:t>Which improvements matter most?</a:t>
            </a:r>
          </a:p>
        </p:txBody>
      </p:sp>
      <p:sp>
        <p:nvSpPr>
          <p:cNvPr id="6" name="TextBox 5">
            <a:extLst>
              <a:ext uri="{FF2B5EF4-FFF2-40B4-BE49-F238E27FC236}">
                <a16:creationId xmlns:a16="http://schemas.microsoft.com/office/drawing/2014/main" id="{CD6336E0-6800-5F0D-A1BB-5C11CA5361C7}"/>
              </a:ext>
            </a:extLst>
          </p:cNvPr>
          <p:cNvSpPr txBox="1"/>
          <p:nvPr/>
        </p:nvSpPr>
        <p:spPr>
          <a:xfrm>
            <a:off x="609600" y="2692400"/>
            <a:ext cx="10668000" cy="323165"/>
          </a:xfrm>
          <a:prstGeom prst="rect">
            <a:avLst/>
          </a:prstGeom>
          <a:noFill/>
        </p:spPr>
        <p:txBody>
          <a:bodyPr vert="horz" wrap="square" lIns="0" tIns="0" rIns="0" bIns="0" rtlCol="0">
            <a:spAutoFit/>
          </a:bodyPr>
          <a:lstStyle/>
          <a:p>
            <a:r>
              <a:rPr lang="en-US" sz="2100">
                <a:solidFill>
                  <a:srgbClr val="173C43"/>
                </a:solidFill>
                <a:latin typeface="Aptos" panose="020B0004020202020204" pitchFamily="34" charset="0"/>
              </a:rPr>
              <a:t>Coverage and ministry accuracy, peer relevance, or report presentation?</a:t>
            </a:r>
          </a:p>
        </p:txBody>
      </p:sp>
      <p:sp>
        <p:nvSpPr>
          <p:cNvPr id="7" name="TextBox 6">
            <a:extLst>
              <a:ext uri="{FF2B5EF4-FFF2-40B4-BE49-F238E27FC236}">
                <a16:creationId xmlns:a16="http://schemas.microsoft.com/office/drawing/2014/main" id="{7948CD5F-F591-4EDA-CD1F-5430AB2E0DC1}"/>
              </a:ext>
            </a:extLst>
          </p:cNvPr>
          <p:cNvSpPr txBox="1"/>
          <p:nvPr/>
        </p:nvSpPr>
        <p:spPr>
          <a:xfrm>
            <a:off x="609600" y="3644900"/>
            <a:ext cx="10668000" cy="353943"/>
          </a:xfrm>
          <a:prstGeom prst="rect">
            <a:avLst/>
          </a:prstGeom>
          <a:noFill/>
        </p:spPr>
        <p:txBody>
          <a:bodyPr vert="horz" wrap="square" lIns="0" tIns="0" rIns="0" bIns="0" rtlCol="0">
            <a:spAutoFit/>
          </a:bodyPr>
          <a:lstStyle/>
          <a:p>
            <a:r>
              <a:rPr lang="en-US" sz="2300" b="1">
                <a:solidFill>
                  <a:srgbClr val="16776C"/>
                </a:solidFill>
                <a:latin typeface="Aptos" panose="020B0004020202020204" pitchFamily="34" charset="0"/>
              </a:rPr>
              <a:t>What evidence makes a comparison useful?</a:t>
            </a:r>
          </a:p>
        </p:txBody>
      </p:sp>
      <p:sp>
        <p:nvSpPr>
          <p:cNvPr id="8" name="TextBox 7">
            <a:extLst>
              <a:ext uri="{FF2B5EF4-FFF2-40B4-BE49-F238E27FC236}">
                <a16:creationId xmlns:a16="http://schemas.microsoft.com/office/drawing/2014/main" id="{CCD9412D-570C-63C3-21CE-89D8D867EC7C}"/>
              </a:ext>
            </a:extLst>
          </p:cNvPr>
          <p:cNvSpPr txBox="1"/>
          <p:nvPr/>
        </p:nvSpPr>
        <p:spPr>
          <a:xfrm>
            <a:off x="609600" y="4178300"/>
            <a:ext cx="10668000" cy="646331"/>
          </a:xfrm>
          <a:prstGeom prst="rect">
            <a:avLst/>
          </a:prstGeom>
          <a:noFill/>
        </p:spPr>
        <p:txBody>
          <a:bodyPr vert="horz" wrap="square" lIns="0" tIns="0" rIns="0" bIns="0" rtlCol="0">
            <a:spAutoFit/>
          </a:bodyPr>
          <a:lstStyle/>
          <a:p>
            <a:r>
              <a:rPr lang="en-US" sz="2100">
                <a:solidFill>
                  <a:srgbClr val="173C43"/>
                </a:solidFill>
                <a:latin typeface="Aptos" panose="020B0004020202020204" pitchFamily="34" charset="0"/>
              </a:rPr>
              <a:t>What should a parish reviewer verify before treating a listed difference as a planning opportunity?</a:t>
            </a:r>
          </a:p>
        </p:txBody>
      </p:sp>
      <p:sp>
        <p:nvSpPr>
          <p:cNvPr id="9" name="TextBox 8">
            <a:extLst>
              <a:ext uri="{FF2B5EF4-FFF2-40B4-BE49-F238E27FC236}">
                <a16:creationId xmlns:a16="http://schemas.microsoft.com/office/drawing/2014/main" id="{D7E16C6B-F9FD-402F-5A6D-D7320808324D}"/>
              </a:ext>
            </a:extLst>
          </p:cNvPr>
          <p:cNvSpPr txBox="1"/>
          <p:nvPr/>
        </p:nvSpPr>
        <p:spPr>
          <a:xfrm>
            <a:off x="609600" y="5130800"/>
            <a:ext cx="10668000" cy="353943"/>
          </a:xfrm>
          <a:prstGeom prst="rect">
            <a:avLst/>
          </a:prstGeom>
          <a:noFill/>
        </p:spPr>
        <p:txBody>
          <a:bodyPr vert="horz" wrap="square" lIns="0" tIns="0" rIns="0" bIns="0" rtlCol="0">
            <a:spAutoFit/>
          </a:bodyPr>
          <a:lstStyle/>
          <a:p>
            <a:r>
              <a:rPr lang="en-US" sz="2300" b="1">
                <a:solidFill>
                  <a:srgbClr val="16776C"/>
                </a:solidFill>
                <a:latin typeface="Aptos" panose="020B0004020202020204" pitchFamily="34" charset="0"/>
              </a:rPr>
              <a:t>What defines a successful final version?</a:t>
            </a:r>
          </a:p>
        </p:txBody>
      </p:sp>
      <p:sp>
        <p:nvSpPr>
          <p:cNvPr id="10" name="TextBox 9">
            <a:extLst>
              <a:ext uri="{FF2B5EF4-FFF2-40B4-BE49-F238E27FC236}">
                <a16:creationId xmlns:a16="http://schemas.microsoft.com/office/drawing/2014/main" id="{84C328A0-5B2F-2AC4-A2CE-39B1EBDAF452}"/>
              </a:ext>
            </a:extLst>
          </p:cNvPr>
          <p:cNvSpPr txBox="1"/>
          <p:nvPr/>
        </p:nvSpPr>
        <p:spPr>
          <a:xfrm>
            <a:off x="609600" y="5664200"/>
            <a:ext cx="10668000" cy="323165"/>
          </a:xfrm>
          <a:prstGeom prst="rect">
            <a:avLst/>
          </a:prstGeom>
          <a:noFill/>
        </p:spPr>
        <p:txBody>
          <a:bodyPr vert="horz" wrap="square" lIns="0" tIns="0" rIns="0" bIns="0" rtlCol="0">
            <a:spAutoFit/>
          </a:bodyPr>
          <a:lstStyle/>
          <a:p>
            <a:r>
              <a:rPr lang="en-US" sz="2100">
                <a:solidFill>
                  <a:srgbClr val="173C43"/>
                </a:solidFill>
                <a:latin typeface="Aptos" panose="020B0004020202020204" pitchFamily="34" charset="0"/>
              </a:rPr>
              <a:t>Agree the review sample, acceptance targets, and the most useful report format.</a:t>
            </a:r>
          </a:p>
        </p:txBody>
      </p:sp>
    </p:spTree>
    <p:extLst>
      <p:ext uri="{BB962C8B-B14F-4D97-AF65-F5344CB8AC3E}">
        <p14:creationId xmlns:p14="http://schemas.microsoft.com/office/powerpoint/2010/main" val="10652325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1759</Words>
  <Application>Microsoft Office PowerPoint</Application>
  <PresentationFormat>Custom</PresentationFormat>
  <Paragraphs>161</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Joe May</dc:creator>
  <cp:lastModifiedBy>Joe May</cp:lastModifiedBy>
  <cp:revision>1</cp:revision>
  <dcterms:created xsi:type="dcterms:W3CDTF">2026-10-26T10:06:11Z</dcterms:created>
  <dcterms:modified xsi:type="dcterms:W3CDTF">2026-10-26T10:06:11Z</dcterms:modified>
</cp:coreProperties>
</file>